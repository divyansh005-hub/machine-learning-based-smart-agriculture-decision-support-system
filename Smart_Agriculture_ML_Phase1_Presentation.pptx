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Lst>
  <p:sldSz cx="9144000" cy="6858000" type="screen4x3"/>
  <p:notesSz cx="6858000" cy="9144000"/>
  <p:custDataLst>
    <p:tags r:id="rId1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288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ableStyles" Target="tableStyles.xml"/><Relationship Id="rId11" Type="http://schemas.openxmlformats.org/officeDocument/2006/relationships/tags" Target="tags/tag86.xml"/><Relationship Id="rId1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 ML-based decision-support system with three connected modules – crop recommendation, fertilizer recommendation and crop yield prediction. Introduce the three team members. Group number still to be filled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farmers and advisors must decide what to grow, which fertilizer to use and what yield to expect, and these depend on many interacting factors. We frame this as three connected supervised ML tasks: crop recommendation (22-class classification, 2,200 balanced samples), fertilizer recommendation (7-class classification, 10,000 samples, imbalanced) and crop yield prediction (regression, 28,242 rows, target in hg/ha with mean 77,053.33 far above median 38,295, so RMSE is the primary metric). Success is measured with Macro-F1/Accuracy for classification and RMSE/MAE/R² for regression, always against a baseline (most-frequent class or mean training yield). Classification uses an 80:20 stratified split with random_state 42; yield uses a time-aware split (train up to 2009, test 2010 onwards). Final models are NOT yet trained – logistic regression and random forest / tree-based models are only candidates.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Seven-stage ML workflow, adapted to our three modules. We define the three tasks, use the three supplied datasets, preprocess (missing values, duplicates, encoding, repeated Area–Item–Year records in the yield data, leakage prevention), select suitable models, train on the training partitions and evaluate with the agreed metrics against baselines. The end products are a recommended crop, a recommended fertilizer and a predicted yield. Deployment is future work – nothing has been deployed yet.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from the client's side: the farmer/advisor wants to know which crop to grow, which fertilizer to apply and what yield to expect. We turn these needs into system requirements – the system shall accept the client's soil/weather/farm details, recommend a crop, a fertilizer and an expected yield, and present each clearly – plus quality expectations such as ease of use, dependability, speed and maintainability. Design: layered modular architecture – input layer, validation &amp; preprocessing, three separate ML modules, and an output layer. Development uses separate preprocessing/model pipelines per module in a version-controlled repository, then integrates the three modules. Testing is planned as a check against the client's requirements – does each recommendation work as promised, do everyday and edge-case inputs behave sensibly, and are the results clear enough for the client to act on – alongside metric-based model evaluation; none of this has been executed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Software engineering lifecycle for the project: start by gathering the client's (farmer/advisor) needs and turning them into requirements, design the modular architecture, implement and integrate the three modules, then check that each requirement is met and the results are clear enough for the client to act on, before deployment and ongoing maintenance. Deployment and maintenance are planned future stages.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456300" y="774000"/>
            <a:ext cx="82296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ags" Target="../tags/tag62.xml"/><Relationship Id="rId1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63.xml"/><Relationship Id="rId2" Type="http://schemas.openxmlformats.org/officeDocument/2006/relationships/tags" Target="../tags/tag64.xml"/><Relationship Id="rId3" Type="http://schemas.openxmlformats.org/officeDocument/2006/relationships/tags" Target="../tags/tag65.xm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tags" Target="../tags/tag66.xml"/><Relationship Id="rId2" Type="http://schemas.openxmlformats.org/officeDocument/2006/relationships/tags" Target="../tags/tag67.xml"/><Relationship Id="rId3" Type="http://schemas.openxmlformats.org/officeDocument/2006/relationships/tags" Target="../tags/tag68.xml"/><Relationship Id="rId4" Type="http://schemas.openxmlformats.org/officeDocument/2006/relationships/tags" Target="../tags/tag69.xml"/><Relationship Id="rId5" Type="http://schemas.openxmlformats.org/officeDocument/2006/relationships/tags" Target="../tags/tag70.xml"/><Relationship Id="rId6" Type="http://schemas.openxmlformats.org/officeDocument/2006/relationships/tags" Target="../tags/tag71.xml"/><Relationship Id="rId7" Type="http://schemas.openxmlformats.org/officeDocument/2006/relationships/tags" Target="../tags/tag72.xml"/><Relationship Id="rId8" Type="http://schemas.openxmlformats.org/officeDocument/2006/relationships/tags" Target="../tags/tag73.xml"/><Relationship Id="rId9" Type="http://schemas.openxmlformats.org/officeDocument/2006/relationships/tags" Target="../tags/tag74.xml"/><Relationship Id="rId10" Type="http://schemas.openxmlformats.org/officeDocument/2006/relationships/tags" Target="../tags/tag75.xml"/><Relationship Id="rId11" Type="http://schemas.openxmlformats.org/officeDocument/2006/relationships/tags" Target="../tags/tag76.xml"/><Relationship Id="rId12" Type="http://schemas.openxmlformats.org/officeDocument/2006/relationships/tags" Target="../tags/tag77.xml"/><Relationship Id="rId13" Type="http://schemas.openxmlformats.org/officeDocument/2006/relationships/tags" Target="../tags/tag78.xml"/><Relationship Id="rId14" Type="http://schemas.openxmlformats.org/officeDocument/2006/relationships/tags" Target="../tags/tag79.xml"/><Relationship Id="rId15" Type="http://schemas.openxmlformats.org/officeDocument/2006/relationships/tags" Target="../tags/tag80.xml"/><Relationship Id="rId16" Type="http://schemas.openxmlformats.org/officeDocument/2006/relationships/tags" Target="../tags/tag81.xml"/><Relationship Id="rId17" Type="http://schemas.openxmlformats.org/officeDocument/2006/relationships/tags" Target="../tags/tag82.xml"/><Relationship Id="rId18" Type="http://schemas.openxmlformats.org/officeDocument/2006/relationships/tags" Target="../tags/tag83.xml"/><Relationship Id="rId19" Type="http://schemas.openxmlformats.org/officeDocument/2006/relationships/slideLayout" Target="../slideLayouts/slideLayout2.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tags" Target="../tags/tag84.xml"/><Relationship Id="rId2" Type="http://schemas.openxmlformats.org/officeDocument/2006/relationships/tags" Target="../tags/tag85.xml"/><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pPr algn="ctr" marL="0" indent="0">
              <a:lnSpc>
                <a:spcPct val="100000"/>
              </a:lnSpc>
              <a:spcBef>
                <a:spcPts val="0"/>
              </a:spcBef>
              <a:spcAft>
                <a:spcPts val="0"/>
              </a:spcAft>
              <a:buNone/>
            </a:pPr>
            <a:r>
              <a:rPr lang="en-US" sz="3200" dirty="0" b="1">
                <a:solidFill>
                  <a:srgbClr val="1A1A1A"/>
                </a:solidFill>
                <a:latin typeface="Times New Roman"/>
                <a:cs typeface="Times New Roman"/>
              </a:rPr>
              <a:t>Machine Learning Based</a:t>
            </a:r>
            <a:br/>
            <a:r>
              <a:rPr lang="en-US" sz="3200" dirty="0" b="1">
                <a:solidFill>
                  <a:srgbClr val="1A1A1A"/>
                </a:solidFill>
                <a:latin typeface="Times New Roman"/>
                <a:cs typeface="Times New Roman"/>
              </a:rPr>
              <a:t>Smart Agriculture</a:t>
            </a:r>
            <a:br/>
            <a:r>
              <a:rPr lang="en-US" sz="3200" dirty="0" b="1">
                <a:solidFill>
                  <a:srgbClr val="1A1A1A"/>
                </a:solidFill>
                <a:latin typeface="Times New Roman"/>
                <a:cs typeface="Times New Roman"/>
              </a:rPr>
              <a:t>Decision Support System</a:t>
            </a:r>
          </a:p>
        </p:txBody>
      </p:sp>
      <p:sp>
        <p:nvSpPr>
          <p:cNvPr id="3" name="Subtitle 2"/>
          <p:cNvSpPr>
            <a:spLocks noGrp="1"/>
          </p:cNvSpPr>
          <p:nvPr>
            <p:ph type="subTitle" idx="1"/>
            <p:custDataLst>
              <p:tags r:id="rId2"/>
            </p:custDataLst>
          </p:nvPr>
        </p:nvSpPr>
        <p:spPr>
          <a:xfrm>
            <a:off x="899100" y="3560400"/>
            <a:ext cx="7349400" cy="2103120"/>
          </a:xfrm>
        </p:spPr>
        <p:txBody>
          <a:bodyPr>
            <a:noAutofit/>
          </a:bodyPr>
          <a:p>
            <a:pPr algn="ctr" marL="0" indent="0">
              <a:spcBef>
                <a:spcPts val="0"/>
              </a:spcBef>
              <a:spcAft>
                <a:spcPts val="400"/>
              </a:spcAft>
              <a:buNone/>
            </a:pPr>
            <a:r>
              <a:rPr lang="en-US" sz="1800" dirty="0" b="1">
                <a:solidFill>
                  <a:srgbClr val="404040"/>
                </a:solidFill>
                <a:latin typeface="Times New Roman"/>
                <a:cs typeface="Times New Roman"/>
              </a:rPr>
              <a:t>Group Details</a:t>
            </a:r>
          </a:p>
          <a:p>
            <a:pPr algn="ctr" marL="0" indent="0">
              <a:spcBef>
                <a:spcPts val="0"/>
              </a:spcBef>
              <a:spcAft>
                <a:spcPts val="800"/>
              </a:spcAft>
              <a:buNone/>
            </a:pPr>
            <a:r>
              <a:rPr lang="en-US" sz="1500" dirty="0">
                <a:solidFill>
                  <a:srgbClr val="404040"/>
                </a:solidFill>
                <a:latin typeface="Times New Roman"/>
                <a:cs typeface="Times New Roman"/>
              </a:rPr>
              <a:t xml:space="preserve">Group No.: </a:t>
            </a:r>
            <a:r>
              <a:rPr lang="en-US" sz="1500" dirty="0" b="1">
                <a:solidFill>
                  <a:srgbClr val="C00000"/>
                </a:solidFill>
                <a:latin typeface="Times New Roman"/>
                <a:cs typeface="Times New Roman"/>
              </a:rPr>
              <a:t>[TO BE FILLED]</a:t>
            </a:r>
          </a:p>
          <a:p>
            <a:pPr algn="ctr" marL="0" indent="0">
              <a:spcBef>
                <a:spcPts val="0"/>
              </a:spcBef>
              <a:spcAft>
                <a:spcPts val="300"/>
              </a:spcAft>
              <a:buNone/>
            </a:pPr>
            <a:r>
              <a:rPr lang="en-US" sz="1500" dirty="0" b="1">
                <a:solidFill>
                  <a:srgbClr val="404040"/>
                </a:solidFill>
                <a:latin typeface="Times New Roman"/>
                <a:cs typeface="Times New Roman"/>
              </a:rPr>
              <a:t>Student’s Name and Enroll No.</a:t>
            </a:r>
          </a:p>
          <a:p>
            <a:pPr algn="ctr" marL="0" indent="0">
              <a:spcBef>
                <a:spcPts val="0"/>
              </a:spcBef>
              <a:spcAft>
                <a:spcPts val="200"/>
              </a:spcAft>
              <a:buNone/>
            </a:pPr>
            <a:r>
              <a:rPr lang="en-US" sz="1500" dirty="0">
                <a:solidFill>
                  <a:srgbClr val="404040"/>
                </a:solidFill>
                <a:latin typeface="Times New Roman"/>
                <a:cs typeface="Times New Roman"/>
              </a:rPr>
              <a:t>Divyansh Bhatt — BT24GCS119 — CSE/C2</a:t>
            </a:r>
          </a:p>
          <a:p>
            <a:pPr algn="ctr" marL="0" indent="0">
              <a:spcBef>
                <a:spcPts val="0"/>
              </a:spcBef>
              <a:spcAft>
                <a:spcPts val="200"/>
              </a:spcAft>
              <a:buNone/>
            </a:pPr>
            <a:r>
              <a:rPr lang="en-US" sz="1500" dirty="0">
                <a:solidFill>
                  <a:srgbClr val="404040"/>
                </a:solidFill>
                <a:latin typeface="Times New Roman"/>
                <a:cs typeface="Times New Roman"/>
              </a:rPr>
              <a:t>Smera Sharma — BT24GCS001 — CSE/C2</a:t>
            </a:r>
          </a:p>
          <a:p>
            <a:pPr algn="ctr" marL="0" indent="0">
              <a:spcBef>
                <a:spcPts val="0"/>
              </a:spcBef>
              <a:spcAft>
                <a:spcPts val="0"/>
              </a:spcAft>
              <a:buNone/>
            </a:pPr>
            <a:r>
              <a:rPr lang="en-US" sz="1500" dirty="0">
                <a:solidFill>
                  <a:srgbClr val="404040"/>
                </a:solidFill>
                <a:latin typeface="Times New Roman"/>
                <a:cs typeface="Times New Roman"/>
              </a:rPr>
              <a:t>Arush Dewangan — BT24GCS447 — CSE/C2</a:t>
            </a: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370575" y="203270"/>
            <a:ext cx="8226900" cy="705600"/>
          </a:xfrm>
        </p:spPr>
        <p:txBody>
          <a:bodyPr/>
          <a:p>
            <a:r>
              <a:rPr lang="en-US" sz="2800" b="1">
                <a:solidFill>
                  <a:schemeClr val="tx1"/>
                </a:solidFill>
                <a:latin typeface="Times New Roman" panose="02020603050405020304" charset="0"/>
                <a:cs typeface="Times New Roman" panose="02020603050405020304" charset="0"/>
              </a:rPr>
              <a:t>AI/ML Implementation</a:t>
            </a:r>
            <a:endParaRPr lang="en-US" sz="2800" b="1">
              <a:solidFill>
                <a:schemeClr val="tx1"/>
              </a:solidFill>
              <a:latin typeface="Times New Roman" panose="02020603050405020304" charset="0"/>
              <a:cs typeface="Times New Roman" panose="02020603050405020304" charset="0"/>
            </a:endParaRPr>
          </a:p>
        </p:txBody>
      </p:sp>
      <p:sp>
        <p:nvSpPr>
          <p:cNvPr id="164" name="矩形: 圆角 23"/>
          <p:cNvSpPr/>
          <p:nvPr>
            <p:custDataLst>
              <p:tags r:id="rId2"/>
            </p:custDataLst>
          </p:nvPr>
        </p:nvSpPr>
        <p:spPr>
          <a:xfrm>
            <a:off x="4847308" y="3667705"/>
            <a:ext cx="4295034" cy="2999232"/>
          </a:xfrm>
          <a:prstGeom prst="roundRect">
            <a:avLst>
              <a:gd name="adj" fmla="val 6347"/>
            </a:avLst>
          </a:prstGeom>
          <a:gradFill flip="none" rotWithShape="1">
            <a:gsLst>
              <a:gs pos="0">
                <a:srgbClr val="FF7429">
                  <a:lumMod val="20000"/>
                  <a:lumOff val="80000"/>
                  <a:alpha val="20000"/>
                </a:srgbClr>
              </a:gs>
              <a:gs pos="100000">
                <a:srgbClr val="FFFFFF">
                  <a:alpha val="0"/>
                </a:srgbClr>
              </a:gs>
            </a:gsLst>
            <a:path path="circle">
              <a:fillToRect l="100000" t="100000"/>
            </a:path>
            <a:tileRect r="-100000" b="-100000"/>
          </a:gradFill>
          <a:ln w="15875">
            <a:solidFill>
              <a:srgbClr val="FF7429">
                <a:lumMod val="20000"/>
                <a:lumOff val="80000"/>
              </a:srgbClr>
            </a:solidFill>
          </a:ln>
          <a:effectLst>
            <a:outerShdw blurRad="279400" dist="228600" dir="2700000" algn="tl" rotWithShape="0">
              <a:srgbClr val="FF7429">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137160" tIns="457200" rIns="274320" bIns="54864" rtlCol="0" anchor="t">
            <a:noAutofit/>
          </a:bodyPr>
          <a:p>
            <a:pPr algn="l" marL="0" indent="0">
              <a:spcBef>
                <a:spcPts val="0"/>
              </a:spcBef>
              <a:spcAft>
                <a:spcPts val="0"/>
              </a:spcAft>
              <a:buNone/>
            </a:pPr>
          </a:p>
        </p:txBody>
      </p:sp>
      <p:sp>
        <p:nvSpPr>
          <p:cNvPr id="165" name="任意多边形: 形状 26"/>
          <p:cNvSpPr/>
          <p:nvPr>
            <p:custDataLst>
              <p:tags r:id="rId3"/>
            </p:custDataLst>
          </p:nvPr>
        </p:nvSpPr>
        <p:spPr>
          <a:xfrm>
            <a:off x="5364711" y="3566160"/>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FF7429">
                  <a:lumMod val="60000"/>
                  <a:lumOff val="40000"/>
                </a:srgbClr>
              </a:gs>
              <a:gs pos="66450">
                <a:srgbClr val="FF7429"/>
              </a:gs>
              <a:gs pos="100000">
                <a:srgbClr val="FF7429"/>
              </a:gs>
            </a:gsLst>
            <a:lin ang="2700000" scaled="1"/>
            <a:tileRect/>
          </a:gradFill>
          <a:ln>
            <a:noFill/>
          </a:ln>
          <a:effectLst>
            <a:outerShdw blurRad="101600" dist="76200" dir="2700000" algn="tl" rotWithShape="0">
              <a:srgbClr val="FF7429">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pPr algn="ctr">
              <a:spcBef>
                <a:spcPct val="0"/>
              </a:spcBef>
              <a:spcAft>
                <a:spcPct val="0"/>
              </a:spcAft>
            </a:pPr>
            <a:r>
              <a:rPr lang="en-US" sz="1690" dirty="0">
                <a:solidFill>
                  <a:srgbClr val="000000">
                    <a:lumMod val="85000"/>
                    <a:lumOff val="15000"/>
                  </a:srgbClr>
                </a:solidFill>
                <a:latin typeface="Arial" panose="020B0604020202020204" pitchFamily="34" charset="0"/>
                <a:sym typeface="Microsoft YaHei" panose="020B0503020204020204" charset="-122"/>
              </a:rPr>
              <a:t>ML models to be used</a:t>
            </a:r>
            <a:endParaRPr lang="en-US" sz="1690" b="1" dirty="0">
              <a:solidFill>
                <a:srgbClr val="FFFFFF">
                  <a:lumMod val="100000"/>
                </a:srgbClr>
              </a:solidFill>
              <a:latin typeface="Arial" panose="020B0604020202020204" pitchFamily="34" charset="0"/>
              <a:sym typeface="Microsoft YaHei" panose="020B0503020204020204" charset="-122"/>
            </a:endParaRPr>
          </a:p>
        </p:txBody>
      </p:sp>
      <p:sp>
        <p:nvSpPr>
          <p:cNvPr id="166" name="等腰三角形 27"/>
          <p:cNvSpPr/>
          <p:nvPr>
            <p:custDataLst>
              <p:tags r:id="rId4"/>
            </p:custDataLst>
          </p:nvPr>
        </p:nvSpPr>
        <p:spPr>
          <a:xfrm>
            <a:off x="5221794" y="3566160"/>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67" name="等腰三角形 29"/>
          <p:cNvSpPr/>
          <p:nvPr>
            <p:custDataLst>
              <p:tags r:id="rId5"/>
            </p:custDataLst>
          </p:nvPr>
        </p:nvSpPr>
        <p:spPr>
          <a:xfrm flipH="1">
            <a:off x="8625477" y="3566160"/>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68" name="矩形: 圆角 5"/>
          <p:cNvSpPr/>
          <p:nvPr>
            <p:custDataLst>
              <p:tags r:id="rId6"/>
            </p:custDataLst>
          </p:nvPr>
        </p:nvSpPr>
        <p:spPr>
          <a:xfrm>
            <a:off x="-52" y="1107385"/>
            <a:ext cx="4295034" cy="2395728"/>
          </a:xfrm>
          <a:prstGeom prst="roundRect">
            <a:avLst>
              <a:gd name="adj" fmla="val 6347"/>
            </a:avLst>
          </a:prstGeom>
          <a:gradFill flip="none" rotWithShape="1">
            <a:gsLst>
              <a:gs pos="0">
                <a:srgbClr val="376FFF">
                  <a:lumMod val="20000"/>
                  <a:lumOff val="80000"/>
                  <a:alpha val="20000"/>
                </a:srgbClr>
              </a:gs>
              <a:gs pos="100000">
                <a:srgbClr val="FFFFFF">
                  <a:alpha val="0"/>
                </a:srgbClr>
              </a:gs>
            </a:gsLst>
            <a:path path="circle">
              <a:fillToRect l="100000" t="100000"/>
            </a:path>
            <a:tileRect r="-100000" b="-100000"/>
          </a:gradFill>
          <a:ln w="15875">
            <a:solidFill>
              <a:srgbClr val="376FFF">
                <a:lumMod val="20000"/>
                <a:lumOff val="80000"/>
              </a:srgbClr>
            </a:solidFill>
          </a:ln>
          <a:effectLst>
            <a:outerShdw blurRad="279400" dist="228600" dir="2700000" algn="tl" rotWithShape="0">
              <a:srgbClr val="376FFF">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274320" tIns="457200" rIns="137160" bIns="54864" rtlCol="0" anchor="t">
            <a:noAutofit/>
          </a:bodyPr>
          <a:p>
            <a:pPr algn="l" marL="0" indent="0">
              <a:spcBef>
                <a:spcPts val="0"/>
              </a:spcBef>
              <a:spcAft>
                <a:spcPts val="600"/>
              </a:spcAft>
              <a:buNone/>
            </a:pPr>
            <a:r>
              <a:rPr lang="en-US" sz="1100" dirty="0" b="1">
                <a:solidFill>
                  <a:srgbClr val="1F4FC4"/>
                </a:solidFill>
                <a:latin typeface="Arial"/>
                <a:cs typeface="Arial"/>
              </a:rPr>
              <a:t>Supervised Machine Learning</a:t>
            </a:r>
            <a:r>
              <a:rPr lang="en-US" sz="1100" dirty="0">
                <a:solidFill>
                  <a:srgbClr val="262626"/>
                </a:solidFill>
                <a:latin typeface="Arial"/>
                <a:cs typeface="Arial"/>
              </a:rPr>
              <a:t xml:space="preserve"> on historical agricultural data</a:t>
            </a:r>
          </a:p>
          <a:p>
            <a:pPr algn="l" marL="150000" indent="-150000">
              <a:spcBef>
                <a:spcPts val="0"/>
              </a:spcBef>
              <a:spcAft>
                <a:spcPts val="300"/>
              </a:spcAft>
              <a:buClr>
                <a:srgbClr val="1F4FC4"/>
              </a:buClr>
              <a:buFont typeface="Arial"/>
              <a:buChar char="•"/>
            </a:pPr>
            <a:r>
              <a:rPr lang="en-US" sz="1050" dirty="0" b="1">
                <a:solidFill>
                  <a:srgbClr val="1F4FC4"/>
                </a:solidFill>
                <a:latin typeface="Arial"/>
                <a:cs typeface="Arial"/>
              </a:rPr>
              <a:t>Crop Recommendation</a:t>
            </a:r>
            <a:r>
              <a:rPr lang="en-US" sz="1050" dirty="0">
                <a:solidFill>
                  <a:srgbClr val="262626"/>
                </a:solidFill>
                <a:latin typeface="Arial"/>
                <a:cs typeface="Arial"/>
              </a:rPr>
              <a:t xml:space="preserve">  →  Multiclass classification</a:t>
            </a:r>
          </a:p>
          <a:p>
            <a:pPr algn="l" marL="150000" indent="-150000">
              <a:spcBef>
                <a:spcPts val="0"/>
              </a:spcBef>
              <a:spcAft>
                <a:spcPts val="300"/>
              </a:spcAft>
              <a:buClr>
                <a:srgbClr val="1F4FC4"/>
              </a:buClr>
              <a:buFont typeface="Arial"/>
              <a:buChar char="•"/>
            </a:pPr>
            <a:r>
              <a:rPr lang="en-US" sz="1050" dirty="0" b="1">
                <a:solidFill>
                  <a:srgbClr val="1F4FC4"/>
                </a:solidFill>
                <a:latin typeface="Arial"/>
                <a:cs typeface="Arial"/>
              </a:rPr>
              <a:t>Fertilizer Recommendation</a:t>
            </a:r>
            <a:r>
              <a:rPr lang="en-US" sz="1050" dirty="0">
                <a:solidFill>
                  <a:srgbClr val="262626"/>
                </a:solidFill>
                <a:latin typeface="Arial"/>
                <a:cs typeface="Arial"/>
              </a:rPr>
              <a:t xml:space="preserve">  →  Multiclass classification</a:t>
            </a:r>
          </a:p>
          <a:p>
            <a:pPr algn="l" marL="150000" indent="-150000">
              <a:spcBef>
                <a:spcPts val="0"/>
              </a:spcBef>
              <a:spcAft>
                <a:spcPts val="800"/>
              </a:spcAft>
              <a:buClr>
                <a:srgbClr val="1F4FC4"/>
              </a:buClr>
              <a:buFont typeface="Arial"/>
              <a:buChar char="•"/>
            </a:pPr>
            <a:r>
              <a:rPr lang="en-US" sz="1050" dirty="0" b="1">
                <a:solidFill>
                  <a:srgbClr val="1F4FC4"/>
                </a:solidFill>
                <a:latin typeface="Arial"/>
                <a:cs typeface="Arial"/>
              </a:rPr>
              <a:t>Crop Yield Prediction</a:t>
            </a:r>
            <a:r>
              <a:rPr lang="en-US" sz="1050" dirty="0">
                <a:solidFill>
                  <a:srgbClr val="262626"/>
                </a:solidFill>
                <a:latin typeface="Arial"/>
                <a:cs typeface="Arial"/>
              </a:rPr>
              <a:t xml:space="preserve">  →  Regression</a:t>
            </a:r>
          </a:p>
          <a:p>
            <a:pPr algn="l" marL="0" indent="0">
              <a:spcBef>
                <a:spcPts val="0"/>
              </a:spcBef>
              <a:spcAft>
                <a:spcPts val="0"/>
              </a:spcAft>
              <a:buNone/>
            </a:pPr>
            <a:r>
              <a:rPr lang="en-US" sz="1000" dirty="0" b="1">
                <a:solidFill>
                  <a:srgbClr val="262626"/>
                </a:solidFill>
                <a:latin typeface="Arial"/>
                <a:cs typeface="Arial"/>
              </a:rPr>
              <a:t>Why ML?</a:t>
            </a:r>
            <a:r>
              <a:rPr lang="en-US" sz="1000" dirty="0">
                <a:solidFill>
                  <a:srgbClr val="262626"/>
                </a:solidFill>
                <a:latin typeface="Arial"/>
                <a:cs typeface="Arial"/>
              </a:rPr>
              <a:t xml:space="preserve">  Soil, weather, crop and management variables interact in complex ways. ML learns how these inputs relate to known outcomes in historical records and then predicts or recommends for new observations.</a:t>
            </a:r>
          </a:p>
        </p:txBody>
      </p:sp>
      <p:sp>
        <p:nvSpPr>
          <p:cNvPr id="169" name="任意多边形: 形状 6"/>
          <p:cNvSpPr/>
          <p:nvPr>
            <p:custDataLst>
              <p:tags r:id="rId7"/>
            </p:custDataLst>
          </p:nvPr>
        </p:nvSpPr>
        <p:spPr>
          <a:xfrm>
            <a:off x="523261" y="1005840"/>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376FFF">
                  <a:lumMod val="40000"/>
                  <a:lumOff val="60000"/>
                </a:srgbClr>
              </a:gs>
              <a:gs pos="69000">
                <a:srgbClr val="376FFF"/>
              </a:gs>
              <a:gs pos="100000">
                <a:srgbClr val="376FFF"/>
              </a:gs>
            </a:gsLst>
            <a:lin ang="2700000" scaled="1"/>
            <a:tileRect/>
          </a:gradFill>
          <a:ln>
            <a:noFill/>
          </a:ln>
          <a:effectLst>
            <a:outerShdw blurRad="101600" dist="76200" dir="2700000" algn="tl" rotWithShape="0">
              <a:srgbClr val="376FFF">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pPr algn="ctr">
              <a:spcBef>
                <a:spcPct val="0"/>
              </a:spcBef>
              <a:spcAft>
                <a:spcPct val="0"/>
              </a:spcAft>
            </a:pPr>
            <a:r>
              <a:rPr lang="en-US" sz="1690" dirty="0">
                <a:solidFill>
                  <a:srgbClr val="000000">
                    <a:lumMod val="85000"/>
                    <a:lumOff val="15000"/>
                  </a:srgbClr>
                </a:solidFill>
                <a:latin typeface="Arial" panose="020B0604020202020204" pitchFamily="34" charset="0"/>
                <a:sym typeface="Microsoft YaHei" panose="020B0503020204020204" charset="-122"/>
              </a:rPr>
              <a:t>AI Approach</a:t>
            </a:r>
            <a:endParaRPr lang="en-US" sz="1690" b="1" dirty="0">
              <a:solidFill>
                <a:srgbClr val="FFFFFF">
                  <a:lumMod val="100000"/>
                </a:srgbClr>
              </a:solidFill>
              <a:latin typeface="Arial" panose="020B0604020202020204" pitchFamily="34" charset="0"/>
              <a:sym typeface="Microsoft YaHei" panose="020B0503020204020204" charset="-122"/>
            </a:endParaRPr>
          </a:p>
        </p:txBody>
      </p:sp>
      <p:sp>
        <p:nvSpPr>
          <p:cNvPr id="170" name="等腰三角形 7"/>
          <p:cNvSpPr/>
          <p:nvPr>
            <p:custDataLst>
              <p:tags r:id="rId8"/>
            </p:custDataLst>
          </p:nvPr>
        </p:nvSpPr>
        <p:spPr>
          <a:xfrm>
            <a:off x="380344" y="1005840"/>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1" name="等腰三角形 8"/>
          <p:cNvSpPr/>
          <p:nvPr>
            <p:custDataLst>
              <p:tags r:id="rId9"/>
            </p:custDataLst>
          </p:nvPr>
        </p:nvSpPr>
        <p:spPr>
          <a:xfrm flipH="1">
            <a:off x="3784564" y="1005840"/>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2" name="矩形: 圆角 10"/>
          <p:cNvSpPr/>
          <p:nvPr>
            <p:custDataLst>
              <p:tags r:id="rId10"/>
            </p:custDataLst>
          </p:nvPr>
        </p:nvSpPr>
        <p:spPr>
          <a:xfrm>
            <a:off x="4849457" y="1107385"/>
            <a:ext cx="4295034" cy="2395728"/>
          </a:xfrm>
          <a:prstGeom prst="roundRect">
            <a:avLst>
              <a:gd name="adj" fmla="val 6347"/>
            </a:avLst>
          </a:prstGeom>
          <a:gradFill flip="none" rotWithShape="1">
            <a:gsLst>
              <a:gs pos="0">
                <a:srgbClr val="FF7429">
                  <a:lumMod val="20000"/>
                  <a:lumOff val="80000"/>
                  <a:alpha val="20000"/>
                </a:srgbClr>
              </a:gs>
              <a:gs pos="100000">
                <a:srgbClr val="FFFFFF">
                  <a:alpha val="0"/>
                </a:srgbClr>
              </a:gs>
            </a:gsLst>
            <a:path path="circle">
              <a:fillToRect l="100000" t="100000"/>
            </a:path>
            <a:tileRect r="-100000" b="-100000"/>
          </a:gradFill>
          <a:ln w="15875">
            <a:solidFill>
              <a:srgbClr val="FF7429">
                <a:lumMod val="20000"/>
                <a:lumOff val="80000"/>
              </a:srgbClr>
            </a:solidFill>
          </a:ln>
          <a:effectLst>
            <a:outerShdw blurRad="279400" dist="228600" dir="2700000" algn="tl" rotWithShape="0">
              <a:srgbClr val="FF7429">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137160" tIns="457200" rIns="274320" bIns="54864" rtlCol="0" anchor="t">
            <a:noAutofit/>
          </a:bodyPr>
          <a:p>
            <a:pPr algn="l" marL="0" indent="0">
              <a:spcBef>
                <a:spcPts val="0"/>
              </a:spcBef>
              <a:spcAft>
                <a:spcPts val="0"/>
              </a:spcAft>
              <a:buNone/>
            </a:pPr>
          </a:p>
        </p:txBody>
      </p:sp>
      <p:sp>
        <p:nvSpPr>
          <p:cNvPr id="173" name="任意多边形: 形状 11"/>
          <p:cNvSpPr/>
          <p:nvPr>
            <p:custDataLst>
              <p:tags r:id="rId11"/>
            </p:custDataLst>
          </p:nvPr>
        </p:nvSpPr>
        <p:spPr>
          <a:xfrm>
            <a:off x="5366860" y="1005840"/>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FF7429">
                  <a:lumMod val="60000"/>
                  <a:lumOff val="40000"/>
                </a:srgbClr>
              </a:gs>
              <a:gs pos="66450">
                <a:srgbClr val="FF7429"/>
              </a:gs>
              <a:gs pos="100000">
                <a:srgbClr val="FF7429"/>
              </a:gs>
            </a:gsLst>
            <a:lin ang="2700000" scaled="1"/>
            <a:tileRect/>
          </a:gradFill>
          <a:ln>
            <a:noFill/>
          </a:ln>
          <a:effectLst>
            <a:outerShdw blurRad="101600" dist="76200" dir="2700000" algn="tl" rotWithShape="0">
              <a:srgbClr val="FF7429">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pPr algn="ctr">
              <a:spcBef>
                <a:spcPct val="0"/>
              </a:spcBef>
              <a:spcAft>
                <a:spcPct val="0"/>
              </a:spcAft>
            </a:pPr>
            <a:r>
              <a:rPr lang="en-US" sz="1690" dirty="0">
                <a:solidFill>
                  <a:srgbClr val="000000">
                    <a:lumMod val="85000"/>
                    <a:lumOff val="15000"/>
                  </a:srgbClr>
                </a:solidFill>
                <a:latin typeface="Arial" panose="020B0604020202020204" pitchFamily="34" charset="0"/>
                <a:sym typeface="Microsoft YaHei" panose="020B0503020204020204" charset="-122"/>
              </a:rPr>
              <a:t>Evaluation Parameters</a:t>
            </a:r>
            <a:endParaRPr lang="en-US" sz="1690" b="1" dirty="0">
              <a:solidFill>
                <a:srgbClr val="FFFFFF">
                  <a:lumMod val="100000"/>
                </a:srgbClr>
              </a:solidFill>
              <a:latin typeface="Arial" panose="020B0604020202020204" pitchFamily="34" charset="0"/>
              <a:sym typeface="Microsoft YaHei" panose="020B0503020204020204" charset="-122"/>
            </a:endParaRPr>
          </a:p>
        </p:txBody>
      </p:sp>
      <p:sp>
        <p:nvSpPr>
          <p:cNvPr id="174" name="等腰三角形 12"/>
          <p:cNvSpPr/>
          <p:nvPr>
            <p:custDataLst>
              <p:tags r:id="rId12"/>
            </p:custDataLst>
          </p:nvPr>
        </p:nvSpPr>
        <p:spPr>
          <a:xfrm>
            <a:off x="5223943" y="1005840"/>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5" name="等腰三角形 13"/>
          <p:cNvSpPr/>
          <p:nvPr>
            <p:custDataLst>
              <p:tags r:id="rId13"/>
            </p:custDataLst>
          </p:nvPr>
        </p:nvSpPr>
        <p:spPr>
          <a:xfrm flipH="1">
            <a:off x="8627626" y="1005840"/>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6" name="矩形: 圆角 18"/>
          <p:cNvSpPr/>
          <p:nvPr>
            <p:custDataLst>
              <p:tags r:id="rId14"/>
            </p:custDataLst>
          </p:nvPr>
        </p:nvSpPr>
        <p:spPr>
          <a:xfrm>
            <a:off x="-52" y="3667705"/>
            <a:ext cx="4295034" cy="2999232"/>
          </a:xfrm>
          <a:prstGeom prst="roundRect">
            <a:avLst>
              <a:gd name="adj" fmla="val 6347"/>
            </a:avLst>
          </a:prstGeom>
          <a:gradFill flip="none" rotWithShape="1">
            <a:gsLst>
              <a:gs pos="0">
                <a:srgbClr val="376FFF">
                  <a:lumMod val="20000"/>
                  <a:lumOff val="80000"/>
                  <a:alpha val="20000"/>
                </a:srgbClr>
              </a:gs>
              <a:gs pos="100000">
                <a:srgbClr val="FFFFFF">
                  <a:alpha val="0"/>
                </a:srgbClr>
              </a:gs>
            </a:gsLst>
            <a:path path="circle">
              <a:fillToRect l="100000" t="100000"/>
            </a:path>
            <a:tileRect r="-100000" b="-100000"/>
          </a:gradFill>
          <a:ln w="15875">
            <a:solidFill>
              <a:srgbClr val="376FFF">
                <a:lumMod val="20000"/>
                <a:lumOff val="80000"/>
              </a:srgbClr>
            </a:solidFill>
          </a:ln>
          <a:effectLst>
            <a:outerShdw blurRad="279400" dist="228600" dir="2700000" algn="tl" rotWithShape="0">
              <a:srgbClr val="376FFF">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274320" tIns="457200" rIns="137160" bIns="54864" rtlCol="0" anchor="t">
            <a:noAutofit/>
          </a:bodyPr>
          <a:p>
            <a:pPr algn="l" marL="0" indent="0">
              <a:spcBef>
                <a:spcPts val="0"/>
              </a:spcBef>
              <a:spcAft>
                <a:spcPts val="0"/>
              </a:spcAft>
              <a:buNone/>
            </a:pPr>
            <a:r>
              <a:rPr lang="en-US" sz="950" dirty="0" b="1">
                <a:solidFill>
                  <a:srgbClr val="1F4FC4"/>
                </a:solidFill>
                <a:latin typeface="Arial"/>
                <a:cs typeface="Arial"/>
              </a:rPr>
              <a:t>Who:</a:t>
            </a:r>
            <a:r>
              <a:rPr lang="en-US" sz="950" dirty="0">
                <a:solidFill>
                  <a:srgbClr val="262626"/>
                </a:solidFill>
                <a:latin typeface="Arial"/>
                <a:cs typeface="Arial"/>
              </a:rPr>
              <a:t xml:space="preserve"> farmers and agricultural advisors.  </a:t>
            </a:r>
            <a:r>
              <a:rPr lang="en-US" sz="950" dirty="0" b="1">
                <a:solidFill>
                  <a:srgbClr val="1F4FC4"/>
                </a:solidFill>
                <a:latin typeface="Arial"/>
                <a:cs typeface="Arial"/>
              </a:rPr>
              <a:t>Problem:</a:t>
            </a:r>
            <a:r>
              <a:rPr lang="en-US" sz="950" dirty="0">
                <a:solidFill>
                  <a:srgbClr val="262626"/>
                </a:solidFill>
                <a:latin typeface="Arial"/>
                <a:cs typeface="Arial"/>
              </a:rPr>
              <a:t xml:space="preserve"> deciding what to grow, which fertilizer to apply and what yield to expect, from many interacting soil, weather and management factors.</a:t>
            </a:r>
          </a:p>
        </p:txBody>
      </p:sp>
      <p:sp>
        <p:nvSpPr>
          <p:cNvPr id="177" name="任意多边形: 形状 19"/>
          <p:cNvSpPr/>
          <p:nvPr>
            <p:custDataLst>
              <p:tags r:id="rId15"/>
            </p:custDataLst>
          </p:nvPr>
        </p:nvSpPr>
        <p:spPr>
          <a:xfrm>
            <a:off x="523261" y="3566160"/>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376FFF">
                  <a:lumMod val="40000"/>
                  <a:lumOff val="60000"/>
                </a:srgbClr>
              </a:gs>
              <a:gs pos="69000">
                <a:srgbClr val="376FFF"/>
              </a:gs>
              <a:gs pos="100000">
                <a:srgbClr val="376FFF"/>
              </a:gs>
            </a:gsLst>
            <a:lin ang="2700000" scaled="1"/>
            <a:tileRect/>
          </a:gradFill>
          <a:ln>
            <a:noFill/>
          </a:ln>
          <a:effectLst>
            <a:outerShdw blurRad="101600" dist="76200" dir="2700000" algn="tl" rotWithShape="0">
              <a:srgbClr val="376FFF">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pPr algn="ctr">
              <a:spcBef>
                <a:spcPct val="0"/>
              </a:spcBef>
              <a:spcAft>
                <a:spcPct val="0"/>
              </a:spcAft>
            </a:pPr>
            <a:r>
              <a:rPr lang="en-US" sz="1690" dirty="0">
                <a:solidFill>
                  <a:srgbClr val="000000">
                    <a:lumMod val="85000"/>
                    <a:lumOff val="15000"/>
                  </a:srgbClr>
                </a:solidFill>
                <a:latin typeface="Arial" panose="020B0604020202020204" pitchFamily="34" charset="0"/>
                <a:sym typeface="Microsoft YaHei" panose="020B0503020204020204" charset="-122"/>
              </a:rPr>
              <a:t>Problem Definition</a:t>
            </a:r>
            <a:endParaRPr lang="en-US" sz="1690" b="1" dirty="0">
              <a:solidFill>
                <a:srgbClr val="FFFFFF">
                  <a:lumMod val="100000"/>
                </a:srgbClr>
              </a:solidFill>
              <a:latin typeface="Arial" panose="020B0604020202020204" pitchFamily="34" charset="0"/>
              <a:sym typeface="Microsoft YaHei" panose="020B0503020204020204" charset="-122"/>
            </a:endParaRPr>
          </a:p>
        </p:txBody>
      </p:sp>
      <p:sp>
        <p:nvSpPr>
          <p:cNvPr id="178" name="等腰三角形 20"/>
          <p:cNvSpPr/>
          <p:nvPr>
            <p:custDataLst>
              <p:tags r:id="rId16"/>
            </p:custDataLst>
          </p:nvPr>
        </p:nvSpPr>
        <p:spPr>
          <a:xfrm>
            <a:off x="380344" y="3566160"/>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9" name="等腰三角形 21"/>
          <p:cNvSpPr/>
          <p:nvPr>
            <p:custDataLst>
              <p:tags r:id="rId17"/>
            </p:custDataLst>
          </p:nvPr>
        </p:nvSpPr>
        <p:spPr>
          <a:xfrm flipH="1">
            <a:off x="3784564" y="3566160"/>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graphicFrame>
        <p:nvGraphicFramePr>
          <p:cNvPr id="180" name="Evaluation table"/>
          <p:cNvGraphicFramePr>
            <a:graphicFrameLocks noGrp="1"/>
          </p:cNvGraphicFramePr>
          <p:nvPr/>
        </p:nvGraphicFramePr>
        <p:xfrm>
          <a:off x="4986617" y="1564585"/>
          <a:ext cx="3886200" cy="1335024"/>
        </p:xfrm>
        <a:graphic>
          <a:graphicData uri="http://schemas.openxmlformats.org/drawingml/2006/table">
            <a:tbl>
              <a:tblPr>
                <a:tableStyleId>{2D5ABB26-0587-4C30-8999-92F81FD0307C}</a:tableStyleId>
              </a:tblPr>
              <a:tblGrid>
                <a:gridCol w="731520"/>
                <a:gridCol w="777240"/>
                <a:gridCol w="777240"/>
                <a:gridCol w="1600200"/>
              </a:tblGrid>
              <a:tr h="237744">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Module</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Primary</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Secondary</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Train–test split</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r>
              <a:tr h="365760">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Crop</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Macro-F1</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Accuracy</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80:20 stratified, random_state = 42</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r>
              <a:tr h="365760">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Fertilizer</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Macro-F1</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Accuracy</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80:20 stratified, random_state = 42</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r>
              <a:tr h="365760">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Yield</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RMSE</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MAE, R²</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Time-aware: train Year ≤ 2009, test Year ≥ 2010</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r>
            </a:tbl>
          </a:graphicData>
        </a:graphic>
      </p:graphicFrame>
      <p:sp>
        <p:nvSpPr>
          <p:cNvPr id="181" name="Evaluation note"/>
          <p:cNvSpPr txBox="1"/>
          <p:nvPr/>
        </p:nvSpPr>
        <p:spPr>
          <a:xfrm>
            <a:off x="4986617" y="2954473"/>
            <a:ext cx="3886200" cy="502920"/>
          </a:xfrm>
          <a:prstGeom prst="rect">
            <a:avLst/>
          </a:prstGeom>
          <a:noFill/>
        </p:spPr>
        <p:txBody>
          <a:bodyPr wrap="square" lIns="0" tIns="0" rIns="0" bIns="0" rtlCol="0" anchor="t">
            <a:noAutofit/>
          </a:bodyPr>
          <a:lstStyle/>
          <a:p>
            <a:pPr algn="l" marL="0" indent="0">
              <a:spcBef>
                <a:spcPts val="0"/>
              </a:spcBef>
              <a:spcAft>
                <a:spcPts val="0"/>
              </a:spcAft>
              <a:buNone/>
            </a:pPr>
            <a:r>
              <a:rPr lang="en-US" sz="900" dirty="0" i="1">
                <a:solidFill>
                  <a:srgbClr val="5B6573"/>
                </a:solidFill>
                <a:latin typeface="Arial"/>
                <a:cs typeface="Arial"/>
              </a:rPr>
              <a:t>Fertilizer classes are imbalanced, so Macro-F1 (not accuracy alone) is the primary metric. Every model is compared with its baseline; final scores will be reported after training.</a:t>
            </a:r>
          </a:p>
        </p:txBody>
      </p:sp>
      <p:graphicFrame>
        <p:nvGraphicFramePr>
          <p:cNvPr id="182" name="Problem table"/>
          <p:cNvGraphicFramePr>
            <a:graphicFrameLocks noGrp="1"/>
          </p:cNvGraphicFramePr>
          <p:nvPr/>
        </p:nvGraphicFramePr>
        <p:xfrm>
          <a:off x="274268" y="4746697"/>
          <a:ext cx="3886200" cy="1335024"/>
        </p:xfrm>
        <a:graphic>
          <a:graphicData uri="http://schemas.openxmlformats.org/drawingml/2006/table">
            <a:tbl>
              <a:tblPr>
                <a:tableStyleId>{2D5ABB26-0587-4C30-8999-92F81FD0307C}</a:tableStyleId>
              </a:tblPr>
              <a:tblGrid>
                <a:gridCol w="713232"/>
                <a:gridCol w="2121408"/>
                <a:gridCol w="1051560"/>
              </a:tblGrid>
              <a:tr h="219456">
                <a:tc>
                  <a:txBody>
                    <a:bodyPr/>
                    <a:lstStyle/>
                    <a:p>
                      <a:pPr algn="l" marL="0" indent="0">
                        <a:lnSpc>
                          <a:spcPct val="100000"/>
                        </a:lnSpc>
                        <a:spcBef>
                          <a:spcPts val="0"/>
                        </a:spcBef>
                        <a:spcAft>
                          <a:spcPts val="0"/>
                        </a:spcAft>
                        <a:buNone/>
                      </a:pPr>
                      <a:r>
                        <a:rPr lang="en-US" sz="900" dirty="0" b="1">
                          <a:solidFill>
                            <a:srgbClr val="1F4FC4"/>
                          </a:solidFill>
                          <a:latin typeface="Arial"/>
                          <a:cs typeface="Arial"/>
                        </a:rPr>
                        <a:t>Module</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solidFill>
                      <a:srgbClr val="E3ECFF"/>
                    </a:solidFill>
                  </a:tcPr>
                </a:tc>
                <a:tc>
                  <a:txBody>
                    <a:bodyPr/>
                    <a:lstStyle/>
                    <a:p>
                      <a:pPr algn="l" marL="0" indent="0">
                        <a:lnSpc>
                          <a:spcPct val="100000"/>
                        </a:lnSpc>
                        <a:spcBef>
                          <a:spcPts val="0"/>
                        </a:spcBef>
                        <a:spcAft>
                          <a:spcPts val="0"/>
                        </a:spcAft>
                        <a:buNone/>
                      </a:pPr>
                      <a:r>
                        <a:rPr lang="en-US" sz="900" dirty="0" b="1">
                          <a:solidFill>
                            <a:srgbClr val="1F4FC4"/>
                          </a:solidFill>
                          <a:latin typeface="Arial"/>
                          <a:cs typeface="Arial"/>
                        </a:rPr>
                        <a:t>Input  →  Expected output</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solidFill>
                      <a:srgbClr val="E3ECFF"/>
                    </a:solidFill>
                  </a:tcPr>
                </a:tc>
                <a:tc>
                  <a:txBody>
                    <a:bodyPr/>
                    <a:lstStyle/>
                    <a:p>
                      <a:pPr algn="l" marL="0" indent="0">
                        <a:lnSpc>
                          <a:spcPct val="100000"/>
                        </a:lnSpc>
                        <a:spcBef>
                          <a:spcPts val="0"/>
                        </a:spcBef>
                        <a:spcAft>
                          <a:spcPts val="0"/>
                        </a:spcAft>
                        <a:buNone/>
                      </a:pPr>
                      <a:r>
                        <a:rPr lang="en-US" sz="900" dirty="0" b="1">
                          <a:solidFill>
                            <a:srgbClr val="1F4FC4"/>
                          </a:solidFill>
                          <a:latin typeface="Arial"/>
                          <a:cs typeface="Arial"/>
                        </a:rPr>
                        <a:t>Dataset</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solidFill>
                      <a:srgbClr val="E3ECFF"/>
                    </a:solidFill>
                  </a:tcPr>
                </a:tc>
              </a:tr>
              <a:tr h="329184">
                <a:tc>
                  <a:txBody>
                    <a:bodyPr/>
                    <a:lstStyle/>
                    <a:p>
                      <a:pPr algn="l" marL="0" indent="0">
                        <a:lnSpc>
                          <a:spcPct val="100000"/>
                        </a:lnSpc>
                        <a:spcBef>
                          <a:spcPts val="0"/>
                        </a:spcBef>
                        <a:spcAft>
                          <a:spcPts val="0"/>
                        </a:spcAft>
                        <a:buNone/>
                      </a:pPr>
                      <a:r>
                        <a:rPr lang="en-US" sz="900" dirty="0" b="1">
                          <a:solidFill>
                            <a:srgbClr val="1F4FC4"/>
                          </a:solidFill>
                          <a:latin typeface="Arial"/>
                          <a:cs typeface="Arial"/>
                        </a:rPr>
                        <a:t>Crop</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c>
                  <a:txBody>
                    <a:bodyPr/>
                    <a:lstStyle/>
                    <a:p>
                      <a:pPr algn="l" marL="0" indent="0">
                        <a:lnSpc>
                          <a:spcPct val="100000"/>
                        </a:lnSpc>
                        <a:spcBef>
                          <a:spcPts val="0"/>
                        </a:spcBef>
                        <a:spcAft>
                          <a:spcPts val="0"/>
                        </a:spcAft>
                        <a:buNone/>
                      </a:pPr>
                      <a:r>
                        <a:rPr lang="en-US" sz="900" dirty="0">
                          <a:solidFill>
                            <a:srgbClr val="262626"/>
                          </a:solidFill>
                          <a:latin typeface="Arial"/>
                          <a:cs typeface="Arial"/>
                        </a:rPr>
                        <a:t xml:space="preserve">N, P, K, temperature, humidity, pH, rainfall  →  </a:t>
                      </a:r>
                      <a:r>
                        <a:rPr lang="en-US" sz="900" dirty="0" b="1">
                          <a:solidFill>
                            <a:srgbClr val="262626"/>
                          </a:solidFill>
                          <a:latin typeface="Arial"/>
                          <a:cs typeface="Arial"/>
                        </a:rPr>
                        <a:t>1 of 22 crops</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c>
                  <a:txBody>
                    <a:bodyPr/>
                    <a:lstStyle/>
                    <a:p>
                      <a:pPr algn="l" marL="0" indent="0">
                        <a:lnSpc>
                          <a:spcPct val="100000"/>
                        </a:lnSpc>
                        <a:spcBef>
                          <a:spcPts val="0"/>
                        </a:spcBef>
                        <a:spcAft>
                          <a:spcPts val="0"/>
                        </a:spcAft>
                        <a:buNone/>
                      </a:pPr>
                      <a:r>
                        <a:rPr lang="en-US" sz="900" dirty="0">
                          <a:solidFill>
                            <a:srgbClr val="262626"/>
                          </a:solidFill>
                          <a:latin typeface="Arial"/>
                          <a:cs typeface="Arial"/>
                        </a:rPr>
                        <a:t>2,200 samples, balanced</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r>
              <a:tr h="457200">
                <a:tc>
                  <a:txBody>
                    <a:bodyPr/>
                    <a:lstStyle/>
                    <a:p>
                      <a:pPr algn="l" marL="0" indent="0">
                        <a:lnSpc>
                          <a:spcPct val="100000"/>
                        </a:lnSpc>
                        <a:spcBef>
                          <a:spcPts val="0"/>
                        </a:spcBef>
                        <a:spcAft>
                          <a:spcPts val="0"/>
                        </a:spcAft>
                        <a:buNone/>
                      </a:pPr>
                      <a:r>
                        <a:rPr lang="en-US" sz="900" dirty="0" b="1">
                          <a:solidFill>
                            <a:srgbClr val="1F4FC4"/>
                          </a:solidFill>
                          <a:latin typeface="Arial"/>
                          <a:cs typeface="Arial"/>
                        </a:rPr>
                        <a:t>Fertilizer</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c>
                  <a:txBody>
                    <a:bodyPr/>
                    <a:lstStyle/>
                    <a:p>
                      <a:pPr algn="l" marL="0" indent="0">
                        <a:lnSpc>
                          <a:spcPct val="100000"/>
                        </a:lnSpc>
                        <a:spcBef>
                          <a:spcPts val="0"/>
                        </a:spcBef>
                        <a:spcAft>
                          <a:spcPts val="0"/>
                        </a:spcAft>
                        <a:buNone/>
                      </a:pPr>
                      <a:r>
                        <a:rPr lang="en-US" sz="900" dirty="0">
                          <a:solidFill>
                            <a:srgbClr val="262626"/>
                          </a:solidFill>
                          <a:latin typeface="Arial"/>
                          <a:cs typeface="Arial"/>
                        </a:rPr>
                        <a:t xml:space="preserve">Soil, crop, season, weather and farm-management inputs  →  </a:t>
                      </a:r>
                      <a:r>
                        <a:rPr lang="en-US" sz="900" dirty="0" b="1">
                          <a:solidFill>
                            <a:srgbClr val="262626"/>
                          </a:solidFill>
                          <a:latin typeface="Arial"/>
                          <a:cs typeface="Arial"/>
                        </a:rPr>
                        <a:t>1 of 7 fertilizers</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c>
                  <a:txBody>
                    <a:bodyPr/>
                    <a:lstStyle/>
                    <a:p>
                      <a:pPr algn="l" marL="0" indent="0">
                        <a:lnSpc>
                          <a:spcPct val="100000"/>
                        </a:lnSpc>
                        <a:spcBef>
                          <a:spcPts val="0"/>
                        </a:spcBef>
                        <a:spcAft>
                          <a:spcPts val="0"/>
                        </a:spcAft>
                        <a:buNone/>
                      </a:pPr>
                      <a:r>
                        <a:rPr lang="en-US" sz="900" dirty="0">
                          <a:solidFill>
                            <a:srgbClr val="262626"/>
                          </a:solidFill>
                          <a:latin typeface="Arial"/>
                          <a:cs typeface="Arial"/>
                        </a:rPr>
                        <a:t>10,000 samples, imbalanced</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r>
              <a:tr h="329184">
                <a:tc>
                  <a:txBody>
                    <a:bodyPr/>
                    <a:lstStyle/>
                    <a:p>
                      <a:pPr algn="l" marL="0" indent="0">
                        <a:lnSpc>
                          <a:spcPct val="100000"/>
                        </a:lnSpc>
                        <a:spcBef>
                          <a:spcPts val="0"/>
                        </a:spcBef>
                        <a:spcAft>
                          <a:spcPts val="0"/>
                        </a:spcAft>
                        <a:buNone/>
                      </a:pPr>
                      <a:r>
                        <a:rPr lang="en-US" sz="900" dirty="0" b="1">
                          <a:solidFill>
                            <a:srgbClr val="1F4FC4"/>
                          </a:solidFill>
                          <a:latin typeface="Arial"/>
                          <a:cs typeface="Arial"/>
                        </a:rPr>
                        <a:t>Yield</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c>
                  <a:txBody>
                    <a:bodyPr/>
                    <a:lstStyle/>
                    <a:p>
                      <a:pPr algn="l" marL="0" indent="0">
                        <a:lnSpc>
                          <a:spcPct val="100000"/>
                        </a:lnSpc>
                        <a:spcBef>
                          <a:spcPts val="0"/>
                        </a:spcBef>
                        <a:spcAft>
                          <a:spcPts val="0"/>
                        </a:spcAft>
                        <a:buNone/>
                      </a:pPr>
                      <a:r>
                        <a:rPr lang="en-US" sz="900" dirty="0">
                          <a:solidFill>
                            <a:srgbClr val="262626"/>
                          </a:solidFill>
                          <a:latin typeface="Arial"/>
                          <a:cs typeface="Arial"/>
                        </a:rPr>
                        <a:t xml:space="preserve">Area, crop, year, rainfall, pesticide use, temperature  →  </a:t>
                      </a:r>
                      <a:r>
                        <a:rPr lang="en-US" sz="900" dirty="0" b="1">
                          <a:solidFill>
                            <a:srgbClr val="262626"/>
                          </a:solidFill>
                          <a:latin typeface="Arial"/>
                          <a:cs typeface="Arial"/>
                        </a:rPr>
                        <a:t>yield (hg/ha)</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c>
                  <a:txBody>
                    <a:bodyPr/>
                    <a:lstStyle/>
                    <a:p>
                      <a:pPr algn="l" marL="0" indent="0">
                        <a:lnSpc>
                          <a:spcPct val="100000"/>
                        </a:lnSpc>
                        <a:spcBef>
                          <a:spcPts val="0"/>
                        </a:spcBef>
                        <a:spcAft>
                          <a:spcPts val="0"/>
                        </a:spcAft>
                        <a:buNone/>
                      </a:pPr>
                      <a:r>
                        <a:rPr lang="en-US" sz="900" dirty="0">
                          <a:solidFill>
                            <a:srgbClr val="262626"/>
                          </a:solidFill>
                          <a:latin typeface="Arial"/>
                          <a:cs typeface="Arial"/>
                        </a:rPr>
                        <a:t>28,242 rows</a:t>
                      </a:r>
                    </a:p>
                  </a:txBody>
                  <a:tcPr marL="45720" marR="36576" marT="22860" marB="22860" anchor="ctr">
                    <a:lnL w="0" cap="flat" cmpd="sng" algn="ctr">
                      <a:noFill/>
                    </a:lnL>
                    <a:lnR w="0" cap="flat" cmpd="sng" algn="ctr">
                      <a:noFill/>
                    </a:lnR>
                    <a:lnT w="0" cap="flat" cmpd="sng" algn="ctr">
                      <a:noFill/>
                    </a:lnT>
                    <a:lnB w="6350" cap="flat" cmpd="sng" algn="ctr">
                      <a:solidFill>
                        <a:srgbClr val="BFD0FF"/>
                      </a:solidFill>
                      <a:prstDash val="solid"/>
                    </a:lnB>
                    <a:noFill/>
                  </a:tcPr>
                </a:tc>
              </a:tr>
            </a:tbl>
          </a:graphicData>
        </a:graphic>
      </p:graphicFrame>
      <p:sp>
        <p:nvSpPr>
          <p:cNvPr id="183" name="Problem note"/>
          <p:cNvSpPr txBox="1"/>
          <p:nvPr/>
        </p:nvSpPr>
        <p:spPr>
          <a:xfrm>
            <a:off x="274268" y="6228025"/>
            <a:ext cx="3886200" cy="566928"/>
          </a:xfrm>
          <a:prstGeom prst="rect">
            <a:avLst/>
          </a:prstGeom>
          <a:noFill/>
        </p:spPr>
        <p:txBody>
          <a:bodyPr wrap="square" lIns="0" tIns="0" rIns="0" bIns="0" rtlCol="0" anchor="t">
            <a:noAutofit/>
          </a:bodyPr>
          <a:lstStyle/>
          <a:p>
            <a:pPr algn="l" marL="0" indent="0">
              <a:spcBef>
                <a:spcPts val="0"/>
              </a:spcBef>
              <a:spcAft>
                <a:spcPts val="100"/>
              </a:spcAft>
              <a:buNone/>
            </a:pPr>
            <a:r>
              <a:rPr lang="en-US" sz="850" dirty="0" i="1">
                <a:solidFill>
                  <a:srgbClr val="5B6573"/>
                </a:solidFill>
                <a:latin typeface="Arial"/>
                <a:cs typeface="Arial"/>
              </a:rPr>
              <a:t>Fertilizer classes: Urea, DAP, MOP, Compost, Zinc Sulphate, NPK, SSP.</a:t>
            </a:r>
          </a:p>
          <a:p>
            <a:pPr algn="l" marL="0" indent="0">
              <a:spcBef>
                <a:spcPts val="0"/>
              </a:spcBef>
              <a:spcAft>
                <a:spcPts val="0"/>
              </a:spcAft>
              <a:buNone/>
            </a:pPr>
            <a:r>
              <a:rPr lang="en-US" sz="850" dirty="0" i="1">
                <a:solidFill>
                  <a:srgbClr val="5B6573"/>
                </a:solidFill>
                <a:latin typeface="Arial"/>
                <a:cs typeface="Arial"/>
              </a:rPr>
              <a:t>Yield target (hg/ha): min 50 · median 38,295 · mean 77,053.33 · max 501,412.</a:t>
            </a:r>
          </a:p>
        </p:txBody>
      </p:sp>
      <p:graphicFrame>
        <p:nvGraphicFramePr>
          <p:cNvPr id="184" name="Models table"/>
          <p:cNvGraphicFramePr>
            <a:graphicFrameLocks noGrp="1"/>
          </p:cNvGraphicFramePr>
          <p:nvPr/>
        </p:nvGraphicFramePr>
        <p:xfrm>
          <a:off x="4984468" y="4124905"/>
          <a:ext cx="3886200" cy="1764792"/>
        </p:xfrm>
        <a:graphic>
          <a:graphicData uri="http://schemas.openxmlformats.org/drawingml/2006/table">
            <a:tbl>
              <a:tblPr>
                <a:tableStyleId>{2D5ABB26-0587-4C30-8999-92F81FD0307C}</a:tableStyleId>
              </a:tblPr>
              <a:tblGrid>
                <a:gridCol w="777240"/>
                <a:gridCol w="1325880"/>
                <a:gridCol w="1783080"/>
              </a:tblGrid>
              <a:tr h="256032">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Module</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Baseline (reference)</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Candidate models</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solidFill>
                      <a:srgbClr val="FFE7D9"/>
                    </a:solidFill>
                  </a:tcPr>
                </a:tc>
              </a:tr>
              <a:tr h="502920">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Crop</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Most-frequent-class classifier</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Logistic Regression; Random Forest / tree-based classifier</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r>
              <a:tr h="502920">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Fertilizer</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Most-frequent-class classifier</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Classifier candidates (linear / tree-based) to be shortlisted</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r>
              <a:tr h="502920">
                <a:tc>
                  <a:txBody>
                    <a:bodyPr/>
                    <a:lstStyle/>
                    <a:p>
                      <a:pPr algn="l" marL="0" indent="0">
                        <a:lnSpc>
                          <a:spcPct val="100000"/>
                        </a:lnSpc>
                        <a:spcBef>
                          <a:spcPts val="0"/>
                        </a:spcBef>
                        <a:spcAft>
                          <a:spcPts val="0"/>
                        </a:spcAft>
                        <a:buNone/>
                      </a:pPr>
                      <a:r>
                        <a:rPr lang="en-US" sz="950" dirty="0" b="1">
                          <a:solidFill>
                            <a:srgbClr val="C4500F"/>
                          </a:solidFill>
                          <a:latin typeface="Arial"/>
                          <a:cs typeface="Arial"/>
                        </a:rPr>
                        <a:t>Yield</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Mean training-yield predictor</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c>
                  <a:txBody>
                    <a:bodyPr/>
                    <a:lstStyle/>
                    <a:p>
                      <a:pPr algn="l" marL="0" indent="0">
                        <a:lnSpc>
                          <a:spcPct val="100000"/>
                        </a:lnSpc>
                        <a:spcBef>
                          <a:spcPts val="0"/>
                        </a:spcBef>
                        <a:spcAft>
                          <a:spcPts val="0"/>
                        </a:spcAft>
                        <a:buNone/>
                      </a:pPr>
                      <a:r>
                        <a:rPr lang="en-US" sz="950" dirty="0">
                          <a:solidFill>
                            <a:srgbClr val="262626"/>
                          </a:solidFill>
                          <a:latin typeface="Arial"/>
                          <a:cs typeface="Arial"/>
                        </a:rPr>
                        <a:t>Regressor candidates (linear / tree-based) to be shortlisted</a:t>
                      </a:r>
                    </a:p>
                  </a:txBody>
                  <a:tcPr marL="45720" marR="36576" marT="22860" marB="22860" anchor="ctr">
                    <a:lnL w="0" cap="flat" cmpd="sng" algn="ctr">
                      <a:noFill/>
                    </a:lnL>
                    <a:lnR w="0" cap="flat" cmpd="sng" algn="ctr">
                      <a:noFill/>
                    </a:lnR>
                    <a:lnT w="0" cap="flat" cmpd="sng" algn="ctr">
                      <a:noFill/>
                    </a:lnT>
                    <a:lnB w="6350" cap="flat" cmpd="sng" algn="ctr">
                      <a:solidFill>
                        <a:srgbClr val="FFC9A8"/>
                      </a:solidFill>
                      <a:prstDash val="solid"/>
                    </a:lnB>
                    <a:noFill/>
                  </a:tcPr>
                </a:tc>
              </a:tr>
            </a:tbl>
          </a:graphicData>
        </a:graphic>
      </p:graphicFrame>
      <p:sp>
        <p:nvSpPr>
          <p:cNvPr id="185" name="Models note"/>
          <p:cNvSpPr txBox="1"/>
          <p:nvPr/>
        </p:nvSpPr>
        <p:spPr>
          <a:xfrm>
            <a:off x="4984468" y="6063433"/>
            <a:ext cx="3886200" cy="640080"/>
          </a:xfrm>
          <a:prstGeom prst="rect">
            <a:avLst/>
          </a:prstGeom>
          <a:noFill/>
        </p:spPr>
        <p:txBody>
          <a:bodyPr wrap="square" lIns="0" tIns="0" rIns="0" bIns="0" rtlCol="0" anchor="t">
            <a:noAutofit/>
          </a:bodyPr>
          <a:lstStyle/>
          <a:p>
            <a:pPr algn="l" marL="0" indent="0">
              <a:spcBef>
                <a:spcPts val="0"/>
              </a:spcBef>
              <a:spcAft>
                <a:spcPts val="0"/>
              </a:spcAft>
              <a:buNone/>
            </a:pPr>
            <a:r>
              <a:rPr lang="en-US" sz="950" dirty="0" b="1">
                <a:solidFill>
                  <a:srgbClr val="C4500F"/>
                </a:solidFill>
                <a:latin typeface="Arial"/>
                <a:cs typeface="Arial"/>
              </a:rPr>
              <a:t>No final model has been selected yet.</a:t>
            </a:r>
            <a:r>
              <a:rPr lang="en-US" sz="950" dirty="0">
                <a:solidFill>
                  <a:srgbClr val="262626"/>
                </a:solidFill>
                <a:latin typeface="Arial"/>
                <a:cs typeface="Arial"/>
              </a:rPr>
              <a:t xml:space="preserve"> Selection will follow comparison of the candidates against the baselines on the held-out test data.</a:t>
            </a:r>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458205" y="363925"/>
            <a:ext cx="8226900" cy="705600"/>
          </a:xfrm>
        </p:spPr>
        <p:txBody>
          <a:bodyPr/>
          <a:p>
            <a:r>
              <a:rPr sz="3200" b="1">
                <a:solidFill>
                  <a:schemeClr val="tx1"/>
                </a:solidFill>
                <a:latin typeface="Times New Roman" panose="02020603050405020304" charset="0"/>
                <a:cs typeface="Times New Roman" panose="02020603050405020304" charset="0"/>
                <a:sym typeface="+mn-ea"/>
              </a:rPr>
              <a:t>AI</a:t>
            </a:r>
            <a:r>
              <a:rPr lang="en-US" sz="3200" b="1">
                <a:solidFill>
                  <a:schemeClr val="tx1"/>
                </a:solidFill>
                <a:latin typeface="Times New Roman" panose="02020603050405020304" charset="0"/>
                <a:cs typeface="Times New Roman" panose="02020603050405020304" charset="0"/>
                <a:sym typeface="+mn-ea"/>
              </a:rPr>
              <a:t>/ML</a:t>
            </a:r>
            <a:r>
              <a:rPr sz="3200" b="1">
                <a:solidFill>
                  <a:schemeClr val="tx1"/>
                </a:solidFill>
                <a:latin typeface="Times New Roman" panose="02020603050405020304" charset="0"/>
                <a:cs typeface="Times New Roman" panose="02020603050405020304" charset="0"/>
                <a:sym typeface="+mn-ea"/>
              </a:rPr>
              <a:t> Workflow</a:t>
            </a:r>
            <a:endParaRPr lang="en-US" sz="3200" b="1">
              <a:solidFill>
                <a:schemeClr val="tx1"/>
              </a:solidFill>
              <a:latin typeface="Times New Roman" panose="02020603050405020304" charset="0"/>
              <a:cs typeface="Times New Roman" panose="02020603050405020304" charset="0"/>
              <a:sym typeface="+mn-ea"/>
            </a:endParaRPr>
          </a:p>
        </p:txBody>
      </p:sp>
      <p:sp>
        <p:nvSpPr>
          <p:cNvPr id="6" name="Text Box 5"/>
          <p:cNvSpPr txBox="1"/>
          <p:nvPr/>
        </p:nvSpPr>
        <p:spPr>
          <a:xfrm>
            <a:off x="412115" y="1430020"/>
            <a:ext cx="7782560" cy="922020"/>
          </a:xfrm>
          <a:prstGeom prst="rect">
            <a:avLst/>
          </a:prstGeom>
        </p:spPr>
        <p:txBody>
          <a:bodyPr wrap="square">
            <a:spAutoFit/>
          </a:bodyPr>
          <a:p>
            <a:endParaRPr>
              <a:solidFill>
                <a:schemeClr val="tx1"/>
              </a:solidFill>
              <a:latin typeface="Times New Roman" panose="02020603050405020304" charset="0"/>
              <a:cs typeface="Times New Roman" panose="02020603050405020304" charset="0"/>
            </a:endParaRPr>
          </a:p>
          <a:p>
            <a:endParaRPr>
              <a:solidFill>
                <a:schemeClr val="tx1"/>
              </a:solidFill>
              <a:latin typeface="Times New Roman" panose="02020603050405020304" charset="0"/>
              <a:cs typeface="Times New Roman" panose="02020603050405020304" charset="0"/>
            </a:endParaRPr>
          </a:p>
          <a:p>
            <a:endParaRPr>
              <a:solidFill>
                <a:schemeClr val="tx1"/>
              </a:solidFill>
              <a:latin typeface="Times New Roman" panose="02020603050405020304" charset="0"/>
              <a:cs typeface="Times New Roman" panose="02020603050405020304" charset="0"/>
            </a:endParaRPr>
          </a:p>
        </p:txBody>
      </p:sp>
      <p:sp>
        <p:nvSpPr>
          <p:cNvPr id="12" name="Rounded Rectangle 11"/>
          <p:cNvSpPr/>
          <p:nvPr/>
        </p:nvSpPr>
        <p:spPr>
          <a:xfrm>
            <a:off x="255905" y="1457325"/>
            <a:ext cx="4265295" cy="922020"/>
          </a:xfrm>
          <a:prstGeom prst="roundRect">
            <a:avLst/>
          </a:prstGeom>
          <a:solidFill>
            <a:srgbClr val="CDE7FA"/>
          </a:solidFill>
          <a:ln w="19050">
            <a:solidFill>
              <a:srgbClr val="267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090" y="1621790"/>
            <a:ext cx="483870" cy="597535"/>
          </a:xfrm>
          <a:prstGeom prst="ellipse">
            <a:avLst/>
          </a:prstGeom>
          <a:solidFill>
            <a:srgbClr val="26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1</a:t>
            </a:r>
          </a:p>
        </p:txBody>
      </p:sp>
      <p:sp>
        <p:nvSpPr>
          <p:cNvPr id="15" name="TextBox 4"/>
          <p:cNvSpPr txBox="1"/>
          <p:nvPr/>
        </p:nvSpPr>
        <p:spPr>
          <a:xfrm>
            <a:off x="1307465" y="150304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Problem Definition</a:t>
            </a:r>
          </a:p>
          <a:p>
            <a:pPr algn="ctr" marL="0" indent="0">
              <a:lnSpc>
                <a:spcPct val="100000"/>
              </a:lnSpc>
              <a:spcBef>
                <a:spcPts val="0"/>
              </a:spcBef>
              <a:spcAft>
                <a:spcPts val="0"/>
              </a:spcAft>
              <a:buNone/>
            </a:pPr>
            <a:r>
              <a:rPr lang="en-US" sz="900" dirty="0">
                <a:solidFill>
                  <a:srgbClr val="34445A"/>
                </a:solidFill>
                <a:latin typeface="Arial"/>
                <a:cs typeface="Arial"/>
              </a:rPr>
              <a:t>Three decision-support tasks: crop selection, fertilizer recommendation, yield prediction</a:t>
            </a:r>
          </a:p>
        </p:txBody>
      </p:sp>
      <p:sp>
        <p:nvSpPr>
          <p:cNvPr id="16" name="Down Arrow 15"/>
          <p:cNvSpPr/>
          <p:nvPr/>
        </p:nvSpPr>
        <p:spPr>
          <a:xfrm>
            <a:off x="2697480" y="2463165"/>
            <a:ext cx="391160" cy="219710"/>
          </a:xfrm>
          <a:prstGeom prst="downArrow">
            <a:avLst/>
          </a:prstGeom>
          <a:solidFill>
            <a:srgbClr val="26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55905" y="2737485"/>
            <a:ext cx="4265295" cy="922020"/>
          </a:xfrm>
          <a:prstGeom prst="roundRect">
            <a:avLst/>
          </a:prstGeom>
          <a:solidFill>
            <a:srgbClr val="CFF4E7"/>
          </a:solidFill>
          <a:ln w="19050">
            <a:solidFill>
              <a:srgbClr val="14A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090" y="2901950"/>
            <a:ext cx="483870" cy="597535"/>
          </a:xfrm>
          <a:prstGeom prst="ellipse">
            <a:avLst/>
          </a:prstGeom>
          <a:solidFill>
            <a:srgbClr val="14A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2</a:t>
            </a:r>
          </a:p>
        </p:txBody>
      </p:sp>
      <p:sp>
        <p:nvSpPr>
          <p:cNvPr id="19" name="TextBox 8"/>
          <p:cNvSpPr txBox="1"/>
          <p:nvPr/>
        </p:nvSpPr>
        <p:spPr>
          <a:xfrm>
            <a:off x="1307465" y="278320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Data Collection</a:t>
            </a:r>
          </a:p>
          <a:p>
            <a:pPr algn="ctr" marL="0" indent="0">
              <a:lnSpc>
                <a:spcPct val="100000"/>
              </a:lnSpc>
              <a:spcBef>
                <a:spcPts val="0"/>
              </a:spcBef>
              <a:spcAft>
                <a:spcPts val="0"/>
              </a:spcAft>
              <a:buNone/>
            </a:pPr>
            <a:r>
              <a:rPr lang="en-US" sz="900" dirty="0">
                <a:solidFill>
                  <a:srgbClr val="34445A"/>
                </a:solidFill>
                <a:latin typeface="Arial"/>
                <a:cs typeface="Arial"/>
              </a:rPr>
              <a:t>Three supplied datasets: Crop Recommendation, Fertilizer Recommendation, Crop Yield Prediction</a:t>
            </a:r>
          </a:p>
        </p:txBody>
      </p:sp>
      <p:sp>
        <p:nvSpPr>
          <p:cNvPr id="20" name="Down Arrow 19"/>
          <p:cNvSpPr/>
          <p:nvPr/>
        </p:nvSpPr>
        <p:spPr>
          <a:xfrm>
            <a:off x="2697480" y="3743325"/>
            <a:ext cx="391160" cy="219710"/>
          </a:xfrm>
          <a:prstGeom prst="downArrow">
            <a:avLst/>
          </a:prstGeom>
          <a:solidFill>
            <a:srgbClr val="14A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55905" y="4017645"/>
            <a:ext cx="4265295" cy="922020"/>
          </a:xfrm>
          <a:prstGeom prst="roundRect">
            <a:avLst/>
          </a:prstGeom>
          <a:solidFill>
            <a:srgbClr val="FFEFBC"/>
          </a:solidFill>
          <a:ln w="19050">
            <a:solidFill>
              <a:srgbClr val="E09D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66090" y="4182110"/>
            <a:ext cx="483870" cy="597535"/>
          </a:xfrm>
          <a:prstGeom prst="ellipse">
            <a:avLst/>
          </a:prstGeom>
          <a:solidFill>
            <a:srgbClr val="E09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3</a:t>
            </a:r>
          </a:p>
        </p:txBody>
      </p:sp>
      <p:sp>
        <p:nvSpPr>
          <p:cNvPr id="26" name="TextBox 12"/>
          <p:cNvSpPr txBox="1"/>
          <p:nvPr/>
        </p:nvSpPr>
        <p:spPr>
          <a:xfrm>
            <a:off x="1307465" y="406336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Data Preprocessing</a:t>
            </a:r>
            <a:br/>
            <a:r>
              <a:rPr lang="en-US" sz="1200" dirty="0" b="1">
                <a:solidFill>
                  <a:srgbClr val="192D46"/>
                </a:solidFill>
                <a:latin typeface="Arial"/>
                <a:cs typeface="Arial"/>
              </a:rPr>
              <a:t>and Feature Engineering</a:t>
            </a:r>
          </a:p>
          <a:p>
            <a:pPr algn="ctr" marL="0" indent="0">
              <a:lnSpc>
                <a:spcPct val="100000"/>
              </a:lnSpc>
              <a:spcBef>
                <a:spcPts val="0"/>
              </a:spcBef>
              <a:spcAft>
                <a:spcPts val="0"/>
              </a:spcAft>
              <a:buNone/>
            </a:pPr>
            <a:r>
              <a:rPr lang="en-US" sz="900" dirty="0">
                <a:solidFill>
                  <a:srgbClr val="34445A"/>
                </a:solidFill>
                <a:latin typeface="Arial"/>
                <a:cs typeface="Arial"/>
              </a:rPr>
              <a:t>Missing/duplicate checks · encode categoricals · numeric handling · repeated Area–Item–Year records · leakage prevention</a:t>
            </a:r>
          </a:p>
        </p:txBody>
      </p:sp>
      <p:sp>
        <p:nvSpPr>
          <p:cNvPr id="27" name="Down Arrow 26"/>
          <p:cNvSpPr/>
          <p:nvPr/>
        </p:nvSpPr>
        <p:spPr>
          <a:xfrm>
            <a:off x="2697480" y="5023485"/>
            <a:ext cx="391160" cy="219710"/>
          </a:xfrm>
          <a:prstGeom prst="downArrow">
            <a:avLst/>
          </a:prstGeom>
          <a:solidFill>
            <a:srgbClr val="E09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5905" y="5297805"/>
            <a:ext cx="4265295" cy="922020"/>
          </a:xfrm>
          <a:prstGeom prst="roundRect">
            <a:avLst/>
          </a:prstGeom>
          <a:solidFill>
            <a:srgbClr val="E2D6FA"/>
          </a:solidFill>
          <a:ln w="19050">
            <a:solidFill>
              <a:srgbClr val="654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090" y="5462270"/>
            <a:ext cx="483870" cy="597535"/>
          </a:xfrm>
          <a:prstGeom prst="ellipse">
            <a:avLst/>
          </a:prstGeom>
          <a:solidFill>
            <a:srgbClr val="65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4</a:t>
            </a:r>
          </a:p>
        </p:txBody>
      </p:sp>
      <p:sp>
        <p:nvSpPr>
          <p:cNvPr id="30" name="TextBox 16"/>
          <p:cNvSpPr txBox="1"/>
          <p:nvPr/>
        </p:nvSpPr>
        <p:spPr>
          <a:xfrm>
            <a:off x="1307465" y="534352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Model Selection</a:t>
            </a:r>
          </a:p>
          <a:p>
            <a:pPr algn="ctr" marL="0" indent="0">
              <a:lnSpc>
                <a:spcPct val="100000"/>
              </a:lnSpc>
              <a:spcBef>
                <a:spcPts val="0"/>
              </a:spcBef>
              <a:spcAft>
                <a:spcPts val="0"/>
              </a:spcAft>
              <a:buNone/>
            </a:pPr>
            <a:r>
              <a:rPr lang="en-US" sz="900" dirty="0">
                <a:solidFill>
                  <a:srgbClr val="34445A"/>
                </a:solidFill>
                <a:latin typeface="Arial"/>
                <a:cs typeface="Arial"/>
              </a:rPr>
              <a:t>Choose suitable classification / regression models for each task and dataset</a:t>
            </a:r>
          </a:p>
        </p:txBody>
      </p:sp>
      <p:sp>
        <p:nvSpPr>
          <p:cNvPr id="31" name="Down Arrow 30"/>
          <p:cNvSpPr/>
          <p:nvPr/>
        </p:nvSpPr>
        <p:spPr>
          <a:xfrm>
            <a:off x="2697480" y="6303645"/>
            <a:ext cx="391160" cy="219710"/>
          </a:xfrm>
          <a:prstGeom prst="downArrow">
            <a:avLst/>
          </a:prstGeom>
          <a:solidFill>
            <a:srgbClr val="65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656455" y="1477645"/>
            <a:ext cx="4265295" cy="922020"/>
          </a:xfrm>
          <a:prstGeom prst="roundRect">
            <a:avLst/>
          </a:prstGeom>
          <a:solidFill>
            <a:srgbClr val="FFD7D8"/>
          </a:solidFill>
          <a:ln w="19050">
            <a:solidFill>
              <a:srgbClr val="E0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66640" y="1642110"/>
            <a:ext cx="483870" cy="597535"/>
          </a:xfrm>
          <a:prstGeom prst="ellipse">
            <a:avLst/>
          </a:prstGeom>
          <a:solidFill>
            <a:srgbClr val="E04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5</a:t>
            </a:r>
          </a:p>
        </p:txBody>
      </p:sp>
      <p:sp>
        <p:nvSpPr>
          <p:cNvPr id="45" name="TextBox 20"/>
          <p:cNvSpPr txBox="1"/>
          <p:nvPr/>
        </p:nvSpPr>
        <p:spPr>
          <a:xfrm>
            <a:off x="5708015" y="152336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Model Training</a:t>
            </a:r>
          </a:p>
          <a:p>
            <a:pPr algn="ctr" marL="0" indent="0">
              <a:lnSpc>
                <a:spcPct val="100000"/>
              </a:lnSpc>
              <a:spcBef>
                <a:spcPts val="0"/>
              </a:spcBef>
              <a:spcAft>
                <a:spcPts val="0"/>
              </a:spcAft>
              <a:buNone/>
            </a:pPr>
            <a:r>
              <a:rPr lang="en-US" sz="900" dirty="0">
                <a:solidFill>
                  <a:srgbClr val="34445A"/>
                </a:solidFill>
                <a:latin typeface="Arial"/>
                <a:cs typeface="Arial"/>
              </a:rPr>
              <a:t>Train on the training partitions only (80% stratified split; yield: Year ≤ 2009)</a:t>
            </a:r>
          </a:p>
        </p:txBody>
      </p:sp>
      <p:sp>
        <p:nvSpPr>
          <p:cNvPr id="46" name="Down Arrow 45"/>
          <p:cNvSpPr/>
          <p:nvPr/>
        </p:nvSpPr>
        <p:spPr>
          <a:xfrm>
            <a:off x="7098030" y="2483485"/>
            <a:ext cx="391160" cy="219710"/>
          </a:xfrm>
          <a:prstGeom prst="downArrow">
            <a:avLst/>
          </a:prstGeom>
          <a:solidFill>
            <a:srgbClr val="E04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656455" y="2757805"/>
            <a:ext cx="4265295" cy="922020"/>
          </a:xfrm>
          <a:prstGeom prst="roundRect">
            <a:avLst/>
          </a:prstGeom>
          <a:solidFill>
            <a:srgbClr val="CBEFEF"/>
          </a:solidFill>
          <a:ln w="19050">
            <a:solidFill>
              <a:srgbClr val="129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866640" y="2922270"/>
            <a:ext cx="483870" cy="597535"/>
          </a:xfrm>
          <a:prstGeom prst="ellipse">
            <a:avLst/>
          </a:prstGeom>
          <a:solidFill>
            <a:srgbClr val="12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6</a:t>
            </a:r>
          </a:p>
        </p:txBody>
      </p:sp>
      <p:sp>
        <p:nvSpPr>
          <p:cNvPr id="49" name="TextBox 24"/>
          <p:cNvSpPr txBox="1"/>
          <p:nvPr/>
        </p:nvSpPr>
        <p:spPr>
          <a:xfrm>
            <a:off x="5708015" y="280352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Evaluation &amp; Tuning (if any)</a:t>
            </a:r>
          </a:p>
          <a:p>
            <a:pPr algn="ctr" marL="0" indent="0">
              <a:lnSpc>
                <a:spcPct val="100000"/>
              </a:lnSpc>
              <a:spcBef>
                <a:spcPts val="0"/>
              </a:spcBef>
              <a:spcAft>
                <a:spcPts val="0"/>
              </a:spcAft>
              <a:buNone/>
            </a:pPr>
            <a:r>
              <a:rPr lang="en-US" sz="900" dirty="0">
                <a:solidFill>
                  <a:srgbClr val="34445A"/>
                </a:solidFill>
                <a:latin typeface="Arial"/>
                <a:cs typeface="Arial"/>
              </a:rPr>
              <a:t>Classification: Macro-F1, Accuracy · Regression: RMSE, MAE, R² · compared with baselines</a:t>
            </a:r>
          </a:p>
        </p:txBody>
      </p:sp>
      <p:sp>
        <p:nvSpPr>
          <p:cNvPr id="50" name="Down Arrow 49"/>
          <p:cNvSpPr/>
          <p:nvPr/>
        </p:nvSpPr>
        <p:spPr>
          <a:xfrm>
            <a:off x="7098030" y="3763645"/>
            <a:ext cx="391160" cy="219710"/>
          </a:xfrm>
          <a:prstGeom prst="downArrow">
            <a:avLst/>
          </a:prstGeom>
          <a:solidFill>
            <a:srgbClr val="12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656455" y="4037965"/>
            <a:ext cx="4265295" cy="922020"/>
          </a:xfrm>
          <a:prstGeom prst="roundRect">
            <a:avLst/>
          </a:prstGeom>
          <a:solidFill>
            <a:srgbClr val="D6E2FA"/>
          </a:solidFill>
          <a:ln w="19050">
            <a:solidFill>
              <a:srgbClr val="30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866640" y="4202430"/>
            <a:ext cx="483870" cy="597535"/>
          </a:xfrm>
          <a:prstGeom prst="ellipse">
            <a:avLst/>
          </a:prstGeom>
          <a:solidFill>
            <a:srgbClr val="305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7</a:t>
            </a:r>
          </a:p>
        </p:txBody>
      </p:sp>
      <p:sp>
        <p:nvSpPr>
          <p:cNvPr id="53" name="TextBox 28"/>
          <p:cNvSpPr txBox="1"/>
          <p:nvPr/>
        </p:nvSpPr>
        <p:spPr>
          <a:xfrm>
            <a:off x="5708015" y="408368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200" dirty="0" b="1">
                <a:solidFill>
                  <a:srgbClr val="192D46"/>
                </a:solidFill>
                <a:latin typeface="Arial"/>
                <a:cs typeface="Arial"/>
              </a:rPr>
              <a:t>Prediction &amp; Deployment</a:t>
            </a:r>
          </a:p>
          <a:p>
            <a:pPr algn="ctr" marL="0" indent="0">
              <a:lnSpc>
                <a:spcPct val="100000"/>
              </a:lnSpc>
              <a:spcBef>
                <a:spcPts val="0"/>
              </a:spcBef>
              <a:spcAft>
                <a:spcPts val="0"/>
              </a:spcAft>
              <a:buNone/>
            </a:pPr>
            <a:r>
              <a:rPr lang="en-US" sz="900" dirty="0">
                <a:solidFill>
                  <a:srgbClr val="34445A"/>
                </a:solidFill>
                <a:latin typeface="Arial"/>
                <a:cs typeface="Arial"/>
              </a:rPr>
              <a:t>Outputs: recommended crop, recommended fertilizer, predicted yield · deployment is a future extension</a:t>
            </a:r>
          </a:p>
        </p:txBody>
      </p:sp>
      <p:sp>
        <p:nvSpPr>
          <p:cNvPr id="54" name="Modules caption"/>
          <p:cNvSpPr txBox="1"/>
          <p:nvPr/>
        </p:nvSpPr>
        <p:spPr>
          <a:xfrm>
            <a:off x="4656455" y="5303520"/>
            <a:ext cx="4265295" cy="228600"/>
          </a:xfrm>
          <a:prstGeom prst="rect">
            <a:avLst/>
          </a:prstGeom>
          <a:noFill/>
        </p:spPr>
        <p:txBody>
          <a:bodyPr wrap="square" lIns="0" tIns="0" rIns="0" bIns="0" rtlCol="0" anchor="t">
            <a:noAutofit/>
          </a:bodyPr>
          <a:lstStyle/>
          <a:p>
            <a:pPr algn="l" marL="0" indent="0">
              <a:spcBef>
                <a:spcPts val="0"/>
              </a:spcBef>
              <a:spcAft>
                <a:spcPts val="0"/>
              </a:spcAft>
              <a:buNone/>
            </a:pPr>
            <a:r>
              <a:rPr lang="en-US" sz="950" dirty="0" b="1">
                <a:solidFill>
                  <a:srgbClr val="192D46"/>
                </a:solidFill>
                <a:latin typeface="Arial"/>
                <a:cs typeface="Arial"/>
              </a:rPr>
              <a:t>Applied to each of the three modules</a:t>
            </a:r>
          </a:p>
        </p:txBody>
      </p:sp>
      <p:sp>
        <p:nvSpPr>
          <p:cNvPr id="55" name="Module chip 1"/>
          <p:cNvSpPr/>
          <p:nvPr/>
        </p:nvSpPr>
        <p:spPr>
          <a:xfrm>
            <a:off x="4656455" y="5577840"/>
            <a:ext cx="1372997" cy="713232"/>
          </a:xfrm>
          <a:prstGeom prst="roundRect">
            <a:avLst>
              <a:gd name="adj" fmla="val 16000"/>
            </a:avLst>
          </a:prstGeom>
          <a:solidFill>
            <a:srgbClr val="CFF4E7"/>
          </a:solidFill>
          <a:ln w="15875">
            <a:solidFill>
              <a:srgbClr val="14AA82"/>
            </a:solidFill>
          </a:ln>
          <a:effectLst/>
        </p:spPr>
        <p:txBody>
          <a:bodyPr wrap="square" lIns="45720" tIns="18288" rIns="45720" bIns="18288" rtlCol="0" anchor="ctr">
            <a:noAutofit/>
          </a:bodyPr>
          <a:lstStyle/>
          <a:p>
            <a:pPr algn="ctr" marL="0" indent="0">
              <a:spcBef>
                <a:spcPts val="0"/>
              </a:spcBef>
              <a:spcAft>
                <a:spcPts val="200"/>
              </a:spcAft>
              <a:buNone/>
            </a:pPr>
            <a:r>
              <a:rPr lang="en-US" sz="900" dirty="0" b="1">
                <a:solidFill>
                  <a:srgbClr val="192D46"/>
                </a:solidFill>
                <a:latin typeface="Arial"/>
                <a:cs typeface="Arial"/>
              </a:rPr>
              <a:t>Crop Classifier</a:t>
            </a:r>
          </a:p>
          <a:p>
            <a:pPr algn="ctr" marL="0" indent="0">
              <a:spcBef>
                <a:spcPts val="0"/>
              </a:spcBef>
              <a:spcAft>
                <a:spcPts val="0"/>
              </a:spcAft>
              <a:buNone/>
            </a:pPr>
            <a:r>
              <a:rPr lang="en-US" sz="850" dirty="0">
                <a:solidFill>
                  <a:srgbClr val="34445A"/>
                </a:solidFill>
                <a:latin typeface="Arial"/>
                <a:cs typeface="Arial"/>
              </a:rPr>
              <a:t>→ Recommended crop</a:t>
            </a:r>
          </a:p>
        </p:txBody>
      </p:sp>
      <p:sp>
        <p:nvSpPr>
          <p:cNvPr id="56" name="Module chip 2"/>
          <p:cNvSpPr/>
          <p:nvPr/>
        </p:nvSpPr>
        <p:spPr>
          <a:xfrm>
            <a:off x="6102604" y="5577840"/>
            <a:ext cx="1372997" cy="713232"/>
          </a:xfrm>
          <a:prstGeom prst="roundRect">
            <a:avLst>
              <a:gd name="adj" fmla="val 16000"/>
            </a:avLst>
          </a:prstGeom>
          <a:solidFill>
            <a:srgbClr val="FFEFBC"/>
          </a:solidFill>
          <a:ln w="15875">
            <a:solidFill>
              <a:srgbClr val="E09D0F"/>
            </a:solidFill>
          </a:ln>
          <a:effectLst/>
        </p:spPr>
        <p:txBody>
          <a:bodyPr wrap="square" lIns="45720" tIns="18288" rIns="45720" bIns="18288" rtlCol="0" anchor="ctr">
            <a:noAutofit/>
          </a:bodyPr>
          <a:lstStyle/>
          <a:p>
            <a:pPr algn="ctr" marL="0" indent="0">
              <a:spcBef>
                <a:spcPts val="0"/>
              </a:spcBef>
              <a:spcAft>
                <a:spcPts val="200"/>
              </a:spcAft>
              <a:buNone/>
            </a:pPr>
            <a:r>
              <a:rPr lang="en-US" sz="900" dirty="0" b="1">
                <a:solidFill>
                  <a:srgbClr val="192D46"/>
                </a:solidFill>
                <a:latin typeface="Arial"/>
                <a:cs typeface="Arial"/>
              </a:rPr>
              <a:t>Fertilizer Classifier</a:t>
            </a:r>
          </a:p>
          <a:p>
            <a:pPr algn="ctr" marL="0" indent="0">
              <a:spcBef>
                <a:spcPts val="0"/>
              </a:spcBef>
              <a:spcAft>
                <a:spcPts val="0"/>
              </a:spcAft>
              <a:buNone/>
            </a:pPr>
            <a:r>
              <a:rPr lang="en-US" sz="850" dirty="0">
                <a:solidFill>
                  <a:srgbClr val="34445A"/>
                </a:solidFill>
                <a:latin typeface="Arial"/>
                <a:cs typeface="Arial"/>
              </a:rPr>
              <a:t>→ Recommended fertilizer</a:t>
            </a:r>
          </a:p>
        </p:txBody>
      </p:sp>
      <p:sp>
        <p:nvSpPr>
          <p:cNvPr id="57" name="Module chip 3"/>
          <p:cNvSpPr/>
          <p:nvPr/>
        </p:nvSpPr>
        <p:spPr>
          <a:xfrm>
            <a:off x="7548753" y="5577840"/>
            <a:ext cx="1372997" cy="713232"/>
          </a:xfrm>
          <a:prstGeom prst="roundRect">
            <a:avLst>
              <a:gd name="adj" fmla="val 16000"/>
            </a:avLst>
          </a:prstGeom>
          <a:solidFill>
            <a:srgbClr val="E2D6FA"/>
          </a:solidFill>
          <a:ln w="15875">
            <a:solidFill>
              <a:srgbClr val="6546BE"/>
            </a:solidFill>
          </a:ln>
          <a:effectLst/>
        </p:spPr>
        <p:txBody>
          <a:bodyPr wrap="square" lIns="45720" tIns="18288" rIns="45720" bIns="18288" rtlCol="0" anchor="ctr">
            <a:noAutofit/>
          </a:bodyPr>
          <a:lstStyle/>
          <a:p>
            <a:pPr algn="ctr" marL="0" indent="0">
              <a:spcBef>
                <a:spcPts val="0"/>
              </a:spcBef>
              <a:spcAft>
                <a:spcPts val="200"/>
              </a:spcAft>
              <a:buNone/>
            </a:pPr>
            <a:r>
              <a:rPr lang="en-US" sz="900" dirty="0" b="1">
                <a:solidFill>
                  <a:srgbClr val="192D46"/>
                </a:solidFill>
                <a:latin typeface="Arial"/>
                <a:cs typeface="Arial"/>
              </a:rPr>
              <a:t>Yield Regressor</a:t>
            </a:r>
          </a:p>
          <a:p>
            <a:pPr algn="ctr" marL="0" indent="0">
              <a:spcBef>
                <a:spcPts val="0"/>
              </a:spcBef>
              <a:spcAft>
                <a:spcPts val="0"/>
              </a:spcAft>
              <a:buNone/>
            </a:pPr>
            <a:r>
              <a:rPr lang="en-US" sz="850" dirty="0">
                <a:solidFill>
                  <a:srgbClr val="34445A"/>
                </a:solidFill>
                <a:latin typeface="Arial"/>
                <a:cs typeface="Arial"/>
              </a:rPr>
              <a:t>→ Predicted yield (hg/ha)</a:t>
            </a: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a:xfrm>
            <a:off x="370575" y="203270"/>
            <a:ext cx="8226900" cy="705600"/>
          </a:xfrm>
        </p:spPr>
        <p:txBody>
          <a:bodyPr/>
          <a:p>
            <a:r>
              <a:t>Software Engineering Implementation</a:t>
            </a:r>
          </a:p>
        </p:txBody>
      </p:sp>
      <p:sp>
        <p:nvSpPr>
          <p:cNvPr id="164" name="矩形: 圆角 23"/>
          <p:cNvSpPr/>
          <p:nvPr/>
        </p:nvSpPr>
        <p:spPr>
          <a:xfrm>
            <a:off x="4847308" y="4326073"/>
            <a:ext cx="4295034" cy="2240280"/>
          </a:xfrm>
          <a:prstGeom prst="roundRect">
            <a:avLst>
              <a:gd name="adj" fmla="val 6347"/>
            </a:avLst>
          </a:prstGeom>
          <a:gradFill flip="none" rotWithShape="1">
            <a:gsLst>
              <a:gs pos="0">
                <a:srgbClr val="FF7429">
                  <a:lumMod val="20000"/>
                  <a:lumOff val="80000"/>
                  <a:alpha val="20000"/>
                </a:srgbClr>
              </a:gs>
              <a:gs pos="100000">
                <a:srgbClr val="FFFFFF">
                  <a:alpha val="0"/>
                </a:srgbClr>
              </a:gs>
            </a:gsLst>
            <a:path path="circle">
              <a:fillToRect l="100000" t="100000"/>
            </a:path>
            <a:tileRect r="-100000" b="-100000"/>
          </a:gradFill>
          <a:ln w="15875">
            <a:solidFill>
              <a:srgbClr val="FF7429">
                <a:lumMod val="20000"/>
                <a:lumOff val="80000"/>
              </a:srgbClr>
            </a:solidFill>
          </a:ln>
          <a:effectLst>
            <a:outerShdw blurRad="279400" dist="228600" dir="2700000" algn="tl" rotWithShape="0">
              <a:srgbClr val="FF7429">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137160" tIns="457200" rIns="274320" bIns="54864" rtlCol="0" anchor="t">
            <a:noAutofit/>
          </a:bodyPr>
          <a:p>
            <a:pPr algn="l" marL="0" indent="0">
              <a:spcBef>
                <a:spcPts val="0"/>
              </a:spcBef>
              <a:spcAft>
                <a:spcPts val="400"/>
              </a:spcAft>
              <a:buNone/>
            </a:pPr>
            <a:r>
              <a:rPr lang="en-US" sz="900" dirty="0" b="1">
                <a:solidFill>
                  <a:srgbClr val="C4500F"/>
                </a:solidFill>
                <a:latin typeface="Arial"/>
                <a:cs typeface="Arial"/>
              </a:rPr>
              <a:t>Planned – to confirm the system meets the client’s needs before sign-off</a:t>
            </a:r>
          </a:p>
          <a:p>
            <a:pPr algn="l" marL="150000" indent="-150000">
              <a:lnSpc>
                <a:spcPct val="100000"/>
              </a:lnSpc>
              <a:spcBef>
                <a:spcPts val="0"/>
              </a:spcBef>
              <a:spcAft>
                <a:spcPts val="200"/>
              </a:spcAft>
              <a:buClr>
                <a:srgbClr val="C4500F"/>
              </a:buClr>
              <a:buFont typeface="Arial"/>
              <a:buChar char="•"/>
            </a:pPr>
            <a:r>
              <a:rPr lang="en-US" sz="950" dirty="0" b="1">
                <a:solidFill>
                  <a:srgbClr val="262626"/>
                </a:solidFill>
                <a:latin typeface="Arial"/>
                <a:cs typeface="Arial"/>
              </a:rPr>
              <a:t>Requirement validation:</a:t>
            </a:r>
            <a:r>
              <a:rPr lang="en-US" sz="950" dirty="0">
                <a:solidFill>
                  <a:srgbClr val="262626"/>
                </a:solidFill>
                <a:latin typeface="Arial"/>
                <a:cs typeface="Arial"/>
              </a:rPr>
              <a:t xml:space="preserve"> each recommendation (crop, fertilizer, yield) works as promised</a:t>
            </a:r>
          </a:p>
          <a:p>
            <a:pPr algn="l" marL="150000" indent="-150000">
              <a:lnSpc>
                <a:spcPct val="100000"/>
              </a:lnSpc>
              <a:spcBef>
                <a:spcPts val="0"/>
              </a:spcBef>
              <a:spcAft>
                <a:spcPts val="200"/>
              </a:spcAft>
              <a:buClr>
                <a:srgbClr val="C4500F"/>
              </a:buClr>
              <a:buFont typeface="Arial"/>
              <a:buChar char="•"/>
            </a:pPr>
            <a:r>
              <a:rPr lang="en-US" sz="950" dirty="0" b="1">
                <a:solidFill>
                  <a:srgbClr val="262626"/>
                </a:solidFill>
                <a:latin typeface="Arial"/>
                <a:cs typeface="Arial"/>
              </a:rPr>
              <a:t>Everyday-use testing:</a:t>
            </a:r>
            <a:r>
              <a:rPr lang="en-US" sz="950" dirty="0">
                <a:solidFill>
                  <a:srgbClr val="262626"/>
                </a:solidFill>
                <a:latin typeface="Arial"/>
                <a:cs typeface="Arial"/>
              </a:rPr>
              <a:t xml:space="preserve"> typical farmer inputs give sensible, usable recommendations</a:t>
            </a:r>
          </a:p>
          <a:p>
            <a:pPr algn="l" marL="150000" indent="-150000">
              <a:lnSpc>
                <a:spcPct val="100000"/>
              </a:lnSpc>
              <a:spcBef>
                <a:spcPts val="0"/>
              </a:spcBef>
              <a:spcAft>
                <a:spcPts val="200"/>
              </a:spcAft>
              <a:buClr>
                <a:srgbClr val="C4500F"/>
              </a:buClr>
              <a:buFont typeface="Arial"/>
              <a:buChar char="•"/>
            </a:pPr>
            <a:r>
              <a:rPr lang="en-US" sz="950" dirty="0" b="1">
                <a:solidFill>
                  <a:srgbClr val="262626"/>
                </a:solidFill>
                <a:latin typeface="Arial"/>
                <a:cs typeface="Arial"/>
              </a:rPr>
              <a:t>Edge-case testing:</a:t>
            </a:r>
            <a:r>
              <a:rPr lang="en-US" sz="950" dirty="0">
                <a:solidFill>
                  <a:srgbClr val="262626"/>
                </a:solidFill>
                <a:latin typeface="Arial"/>
                <a:cs typeface="Arial"/>
              </a:rPr>
              <a:t xml:space="preserve"> missing/unusual inputs handled gracefully, not with confusing errors</a:t>
            </a:r>
          </a:p>
          <a:p>
            <a:pPr algn="l" marL="150000" indent="-150000">
              <a:lnSpc>
                <a:spcPct val="100000"/>
              </a:lnSpc>
              <a:spcBef>
                <a:spcPts val="0"/>
              </a:spcBef>
              <a:spcAft>
                <a:spcPts val="200"/>
              </a:spcAft>
              <a:buClr>
                <a:srgbClr val="C4500F"/>
              </a:buClr>
              <a:buFont typeface="Arial"/>
              <a:buChar char="•"/>
            </a:pPr>
            <a:r>
              <a:rPr lang="en-US" sz="950" dirty="0" b="1">
                <a:solidFill>
                  <a:srgbClr val="262626"/>
                </a:solidFill>
                <a:latin typeface="Arial"/>
                <a:cs typeface="Arial"/>
              </a:rPr>
              <a:t>Client acceptance check:</a:t>
            </a:r>
            <a:r>
              <a:rPr lang="en-US" sz="950" dirty="0">
                <a:solidFill>
                  <a:srgbClr val="262626"/>
                </a:solidFill>
                <a:latin typeface="Arial"/>
                <a:cs typeface="Arial"/>
              </a:rPr>
              <a:t xml:space="preserve"> results are clear and useful enough for the farmer/advisor to act on</a:t>
            </a:r>
          </a:p>
          <a:p>
            <a:pPr algn="l" marL="150000" indent="-150000">
              <a:lnSpc>
                <a:spcPct val="100000"/>
              </a:lnSpc>
              <a:spcBef>
                <a:spcPts val="0"/>
              </a:spcBef>
              <a:spcAft>
                <a:spcPts val="0"/>
              </a:spcAft>
              <a:buClr>
                <a:srgbClr val="C4500F"/>
              </a:buClr>
              <a:buFont typeface="Arial"/>
              <a:buChar char="•"/>
            </a:pPr>
            <a:r>
              <a:rPr lang="en-US" sz="950" dirty="0" b="1">
                <a:solidFill>
                  <a:srgbClr val="262626"/>
                </a:solidFill>
                <a:latin typeface="Arial"/>
                <a:cs typeface="Arial"/>
              </a:rPr>
              <a:t>Performance check:</a:t>
            </a:r>
            <a:r>
              <a:rPr lang="en-US" sz="950" dirty="0">
                <a:solidFill>
                  <a:srgbClr val="262626"/>
                </a:solidFill>
                <a:latin typeface="Arial"/>
                <a:cs typeface="Arial"/>
              </a:rPr>
              <a:t xml:space="preserve"> each module scored against its agreed metric (Macro-F1, Accuracy, RMSE, MAE, R²) and baseline</a:t>
            </a:r>
          </a:p>
        </p:txBody>
      </p:sp>
      <p:sp>
        <p:nvSpPr>
          <p:cNvPr id="165" name="任意多边形: 形状 26"/>
          <p:cNvSpPr/>
          <p:nvPr/>
        </p:nvSpPr>
        <p:spPr>
          <a:xfrm>
            <a:off x="5364711" y="4224528"/>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FF7429">
                  <a:lumMod val="60000"/>
                  <a:lumOff val="40000"/>
                </a:srgbClr>
              </a:gs>
              <a:gs pos="66450">
                <a:srgbClr val="FF7429"/>
              </a:gs>
              <a:gs pos="100000">
                <a:srgbClr val="FF7429"/>
              </a:gs>
            </a:gsLst>
            <a:lin ang="2700000" scaled="1"/>
            <a:tileRect/>
          </a:gradFill>
          <a:ln>
            <a:noFill/>
          </a:ln>
          <a:effectLst>
            <a:outerShdw blurRad="101600" dist="76200" dir="2700000" algn="tl" rotWithShape="0">
              <a:srgbClr val="FF7429">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r>
              <a:t>Testing &amp; Quality</a:t>
            </a:r>
          </a:p>
        </p:txBody>
      </p:sp>
      <p:sp>
        <p:nvSpPr>
          <p:cNvPr id="166" name="等腰三角形 27"/>
          <p:cNvSpPr/>
          <p:nvPr/>
        </p:nvSpPr>
        <p:spPr>
          <a:xfrm>
            <a:off x="5221794" y="4224528"/>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67" name="等腰三角形 29"/>
          <p:cNvSpPr/>
          <p:nvPr/>
        </p:nvSpPr>
        <p:spPr>
          <a:xfrm flipH="1">
            <a:off x="8625477" y="4224528"/>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68" name="矩形: 圆角 5"/>
          <p:cNvSpPr/>
          <p:nvPr/>
        </p:nvSpPr>
        <p:spPr>
          <a:xfrm>
            <a:off x="-52" y="1399993"/>
            <a:ext cx="4295034" cy="2697480"/>
          </a:xfrm>
          <a:prstGeom prst="roundRect">
            <a:avLst>
              <a:gd name="adj" fmla="val 6347"/>
            </a:avLst>
          </a:prstGeom>
          <a:gradFill flip="none" rotWithShape="1">
            <a:gsLst>
              <a:gs pos="0">
                <a:srgbClr val="376FFF">
                  <a:lumMod val="20000"/>
                  <a:lumOff val="80000"/>
                  <a:alpha val="20000"/>
                </a:srgbClr>
              </a:gs>
              <a:gs pos="100000">
                <a:srgbClr val="FFFFFF">
                  <a:alpha val="0"/>
                </a:srgbClr>
              </a:gs>
            </a:gsLst>
            <a:path path="circle">
              <a:fillToRect l="100000" t="100000"/>
            </a:path>
            <a:tileRect r="-100000" b="-100000"/>
          </a:gradFill>
          <a:ln w="15875">
            <a:solidFill>
              <a:srgbClr val="376FFF">
                <a:lumMod val="20000"/>
                <a:lumOff val="80000"/>
              </a:srgbClr>
            </a:solidFill>
          </a:ln>
          <a:effectLst>
            <a:outerShdw blurRad="279400" dist="228600" dir="2700000" algn="tl" rotWithShape="0">
              <a:srgbClr val="376FFF">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274320" tIns="457200" rIns="137160" bIns="54864" rtlCol="0" anchor="t">
            <a:noAutofit/>
          </a:bodyPr>
          <a:p>
            <a:pPr algn="l" marL="0" indent="0">
              <a:spcBef>
                <a:spcPts val="0"/>
              </a:spcBef>
              <a:spcAft>
                <a:spcPts val="400"/>
              </a:spcAft>
              <a:buNone/>
            </a:pPr>
            <a:r>
              <a:rPr lang="en-US" sz="950" dirty="0" b="1">
                <a:solidFill>
                  <a:srgbClr val="1F4FC4"/>
                </a:solidFill>
                <a:latin typeface="Arial"/>
                <a:cs typeface="Arial"/>
              </a:rPr>
              <a:t>Client:</a:t>
            </a:r>
            <a:r>
              <a:rPr lang="en-US" sz="950" dirty="0">
                <a:solidFill>
                  <a:srgbClr val="262626"/>
                </a:solidFill>
                <a:latin typeface="Arial"/>
                <a:cs typeface="Arial"/>
              </a:rPr>
              <a:t xml:space="preserve"> the farmer / agricultural advisor using the system</a:t>
            </a:r>
          </a:p>
          <a:p>
            <a:pPr algn="l" marL="0" indent="0">
              <a:lnSpc>
                <a:spcPct val="95000"/>
              </a:lnSpc>
              <a:spcBef>
                <a:spcPts val="0"/>
              </a:spcBef>
              <a:spcAft>
                <a:spcPts val="100"/>
              </a:spcAft>
              <a:buNone/>
            </a:pPr>
            <a:r>
              <a:rPr lang="en-US" sz="1000" dirty="0" b="1">
                <a:solidFill>
                  <a:srgbClr val="1F4FC4"/>
                </a:solidFill>
                <a:latin typeface="Arial"/>
                <a:cs typeface="Arial"/>
              </a:rPr>
              <a:t>What the client needs</a:t>
            </a:r>
          </a:p>
          <a:p>
            <a:pPr algn="l" marL="150000" indent="-150000">
              <a:lnSpc>
                <a:spcPct val="95000"/>
              </a:lnSpc>
              <a:spcBef>
                <a:spcPts val="0"/>
              </a:spcBef>
              <a:spcAft>
                <a:spcPts val="0"/>
              </a:spcAft>
              <a:buClr>
                <a:srgbClr val="1F4FC4"/>
              </a:buClr>
              <a:buFont typeface="Arial"/>
              <a:buChar char="•"/>
            </a:pPr>
            <a:r>
              <a:rPr lang="en-US" sz="900" dirty="0" i="1">
                <a:solidFill>
                  <a:srgbClr val="262626"/>
                </a:solidFill>
                <a:latin typeface="Arial"/>
                <a:cs typeface="Arial"/>
              </a:rPr>
              <a:t>"Which crop suits my field and season?"</a:t>
            </a:r>
          </a:p>
          <a:p>
            <a:pPr algn="l" marL="150000" indent="-150000">
              <a:lnSpc>
                <a:spcPct val="95000"/>
              </a:lnSpc>
              <a:spcBef>
                <a:spcPts val="0"/>
              </a:spcBef>
              <a:spcAft>
                <a:spcPts val="0"/>
              </a:spcAft>
              <a:buClr>
                <a:srgbClr val="1F4FC4"/>
              </a:buClr>
              <a:buFont typeface="Arial"/>
              <a:buChar char="•"/>
            </a:pPr>
            <a:r>
              <a:rPr lang="en-US" sz="900" dirty="0" i="1">
                <a:solidFill>
                  <a:srgbClr val="262626"/>
                </a:solidFill>
                <a:latin typeface="Arial"/>
                <a:cs typeface="Arial"/>
              </a:rPr>
              <a:t>"Which fertilizer should I apply, how much?"</a:t>
            </a:r>
          </a:p>
          <a:p>
            <a:pPr algn="l" marL="150000" indent="-150000">
              <a:lnSpc>
                <a:spcPct val="95000"/>
              </a:lnSpc>
              <a:spcBef>
                <a:spcPts val="0"/>
              </a:spcBef>
              <a:spcAft>
                <a:spcPts val="400"/>
              </a:spcAft>
              <a:buClr>
                <a:srgbClr val="1F4FC4"/>
              </a:buClr>
              <a:buFont typeface="Arial"/>
              <a:buChar char="•"/>
            </a:pPr>
            <a:r>
              <a:rPr lang="en-US" sz="900" dirty="0" i="1">
                <a:solidFill>
                  <a:srgbClr val="262626"/>
                </a:solidFill>
                <a:latin typeface="Arial"/>
                <a:cs typeface="Arial"/>
              </a:rPr>
              <a:t>"What yield can I realistically expect?"</a:t>
            </a:r>
          </a:p>
          <a:p>
            <a:pPr algn="l" marL="0" indent="0">
              <a:lnSpc>
                <a:spcPct val="95000"/>
              </a:lnSpc>
              <a:spcBef>
                <a:spcPts val="0"/>
              </a:spcBef>
              <a:spcAft>
                <a:spcPts val="100"/>
              </a:spcAft>
              <a:buNone/>
            </a:pPr>
            <a:r>
              <a:rPr lang="en-US" sz="1000" dirty="0" b="1">
                <a:solidFill>
                  <a:srgbClr val="1F4FC4"/>
                </a:solidFill>
                <a:latin typeface="Arial"/>
                <a:cs typeface="Arial"/>
              </a:rPr>
              <a:t>Requirements derived from these needs</a:t>
            </a:r>
          </a:p>
          <a:p>
            <a:pPr algn="l" marL="150000" indent="-150000">
              <a:lnSpc>
                <a:spcPct val="95000"/>
              </a:lnSpc>
              <a:spcBef>
                <a:spcPts val="0"/>
              </a:spcBef>
              <a:spcAft>
                <a:spcPts val="0"/>
              </a:spcAft>
              <a:buClr>
                <a:srgbClr val="1F4FC4"/>
              </a:buClr>
              <a:buFont typeface="Arial"/>
              <a:buChar char="•"/>
            </a:pPr>
            <a:r>
              <a:rPr lang="en-US" sz="900" dirty="0">
                <a:solidFill>
                  <a:srgbClr val="262626"/>
                </a:solidFill>
                <a:latin typeface="Arial"/>
                <a:cs typeface="Arial"/>
              </a:rPr>
              <a:t>The system shall accept the client’s soil, weather and farm details</a:t>
            </a:r>
          </a:p>
          <a:p>
            <a:pPr algn="l" marL="150000" indent="-150000">
              <a:lnSpc>
                <a:spcPct val="95000"/>
              </a:lnSpc>
              <a:spcBef>
                <a:spcPts val="0"/>
              </a:spcBef>
              <a:spcAft>
                <a:spcPts val="0"/>
              </a:spcAft>
              <a:buClr>
                <a:srgbClr val="1F4FC4"/>
              </a:buClr>
              <a:buFont typeface="Arial"/>
              <a:buChar char="•"/>
            </a:pPr>
            <a:r>
              <a:rPr lang="en-US" sz="900" dirty="0">
                <a:solidFill>
                  <a:srgbClr val="262626"/>
                </a:solidFill>
                <a:latin typeface="Arial"/>
                <a:cs typeface="Arial"/>
              </a:rPr>
              <a:t>The system shall recommend a crop, a fertilizer and an expected yield</a:t>
            </a:r>
          </a:p>
          <a:p>
            <a:pPr algn="l" marL="150000" indent="-150000">
              <a:lnSpc>
                <a:spcPct val="95000"/>
              </a:lnSpc>
              <a:spcBef>
                <a:spcPts val="0"/>
              </a:spcBef>
              <a:spcAft>
                <a:spcPts val="400"/>
              </a:spcAft>
              <a:buClr>
                <a:srgbClr val="1F4FC4"/>
              </a:buClr>
              <a:buFont typeface="Arial"/>
              <a:buChar char="•"/>
            </a:pPr>
            <a:r>
              <a:rPr lang="en-US" sz="900" dirty="0">
                <a:solidFill>
                  <a:srgbClr val="262626"/>
                </a:solidFill>
                <a:latin typeface="Arial"/>
                <a:cs typeface="Arial"/>
              </a:rPr>
              <a:t>The system shall present each recommendation clearly, in plain terms</a:t>
            </a:r>
          </a:p>
          <a:p>
            <a:pPr algn="l" marL="0" indent="0">
              <a:lnSpc>
                <a:spcPct val="95000"/>
              </a:lnSpc>
              <a:spcBef>
                <a:spcPts val="0"/>
              </a:spcBef>
              <a:spcAft>
                <a:spcPts val="100"/>
              </a:spcAft>
              <a:buNone/>
            </a:pPr>
            <a:r>
              <a:rPr lang="en-US" sz="1000" dirty="0" b="1">
                <a:solidFill>
                  <a:srgbClr val="1F4FC4"/>
                </a:solidFill>
                <a:latin typeface="Arial"/>
                <a:cs typeface="Arial"/>
              </a:rPr>
              <a:t>What the client expects from the system</a:t>
            </a:r>
          </a:p>
          <a:p>
            <a:pPr algn="l" marL="0" indent="0">
              <a:lnSpc>
                <a:spcPct val="95000"/>
              </a:lnSpc>
              <a:spcBef>
                <a:spcPts val="0"/>
              </a:spcBef>
              <a:spcAft>
                <a:spcPts val="0"/>
              </a:spcAft>
              <a:buNone/>
            </a:pPr>
            <a:r>
              <a:rPr lang="en-US" sz="900" dirty="0">
                <a:solidFill>
                  <a:srgbClr val="262626"/>
                </a:solidFill>
                <a:latin typeface="Arial"/>
                <a:cs typeface="Arial"/>
              </a:rPr>
              <a:t>Easy to use · dependable · quick response · easy to update as new data arrives</a:t>
            </a:r>
          </a:p>
        </p:txBody>
      </p:sp>
      <p:sp>
        <p:nvSpPr>
          <p:cNvPr id="169" name="任意多边形: 形状 6"/>
          <p:cNvSpPr/>
          <p:nvPr/>
        </p:nvSpPr>
        <p:spPr>
          <a:xfrm>
            <a:off x="523261" y="1298448"/>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376FFF">
                  <a:lumMod val="40000"/>
                  <a:lumOff val="60000"/>
                </a:srgbClr>
              </a:gs>
              <a:gs pos="69000">
                <a:srgbClr val="376FFF"/>
              </a:gs>
              <a:gs pos="100000">
                <a:srgbClr val="376FFF"/>
              </a:gs>
            </a:gsLst>
            <a:lin ang="2700000" scaled="1"/>
            <a:tileRect/>
          </a:gradFill>
          <a:ln>
            <a:noFill/>
          </a:ln>
          <a:effectLst>
            <a:outerShdw blurRad="101600" dist="76200" dir="2700000" algn="tl" rotWithShape="0">
              <a:srgbClr val="376FFF">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r>
              <a:t>Requirements Engineering</a:t>
            </a:r>
          </a:p>
        </p:txBody>
      </p:sp>
      <p:sp>
        <p:nvSpPr>
          <p:cNvPr id="170" name="等腰三角形 7"/>
          <p:cNvSpPr/>
          <p:nvPr/>
        </p:nvSpPr>
        <p:spPr>
          <a:xfrm>
            <a:off x="380344" y="1298448"/>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1" name="等腰三角形 8"/>
          <p:cNvSpPr/>
          <p:nvPr/>
        </p:nvSpPr>
        <p:spPr>
          <a:xfrm flipH="1">
            <a:off x="3784564" y="1298448"/>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2" name="矩形: 圆角 10"/>
          <p:cNvSpPr/>
          <p:nvPr/>
        </p:nvSpPr>
        <p:spPr>
          <a:xfrm>
            <a:off x="4849457" y="1399993"/>
            <a:ext cx="4295034" cy="2697480"/>
          </a:xfrm>
          <a:prstGeom prst="roundRect">
            <a:avLst>
              <a:gd name="adj" fmla="val 6347"/>
            </a:avLst>
          </a:prstGeom>
          <a:gradFill flip="none" rotWithShape="1">
            <a:gsLst>
              <a:gs pos="0">
                <a:srgbClr val="FF7429">
                  <a:lumMod val="20000"/>
                  <a:lumOff val="80000"/>
                  <a:alpha val="20000"/>
                </a:srgbClr>
              </a:gs>
              <a:gs pos="100000">
                <a:srgbClr val="FFFFFF">
                  <a:alpha val="0"/>
                </a:srgbClr>
              </a:gs>
            </a:gsLst>
            <a:path path="circle">
              <a:fillToRect l="100000" t="100000"/>
            </a:path>
            <a:tileRect r="-100000" b="-100000"/>
          </a:gradFill>
          <a:ln w="15875">
            <a:solidFill>
              <a:srgbClr val="FF7429">
                <a:lumMod val="20000"/>
                <a:lumOff val="80000"/>
              </a:srgbClr>
            </a:solidFill>
          </a:ln>
          <a:effectLst>
            <a:outerShdw blurRad="279400" dist="228600" dir="2700000" algn="tl" rotWithShape="0">
              <a:srgbClr val="FF7429">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289230" tIns="453839" rIns="289230" bIns="112458" rtlCol="0" anchor="ctr">
            <a:normAutofit/>
          </a:bodyPr>
          <a:p>
            <a:r>
              <a:t>Define architecture, modules, interfaces, data flow,</a:t>
            </a:r>
          </a:p>
          <a:p>
            <a:r>
              <a:t>and database/UI design.</a:t>
            </a:r>
          </a:p>
        </p:txBody>
      </p:sp>
      <p:sp>
        <p:nvSpPr>
          <p:cNvPr id="173" name="任意多边形: 形状 11"/>
          <p:cNvSpPr/>
          <p:nvPr/>
        </p:nvSpPr>
        <p:spPr>
          <a:xfrm>
            <a:off x="5366860" y="1298448"/>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FF7429">
                  <a:lumMod val="60000"/>
                  <a:lumOff val="40000"/>
                </a:srgbClr>
              </a:gs>
              <a:gs pos="66450">
                <a:srgbClr val="FF7429"/>
              </a:gs>
              <a:gs pos="100000">
                <a:srgbClr val="FF7429"/>
              </a:gs>
            </a:gsLst>
            <a:lin ang="2700000" scaled="1"/>
            <a:tileRect/>
          </a:gradFill>
          <a:ln>
            <a:noFill/>
          </a:ln>
          <a:effectLst>
            <a:outerShdw blurRad="101600" dist="76200" dir="2700000" algn="tl" rotWithShape="0">
              <a:srgbClr val="FF7429">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r>
              <a:t>Software Design</a:t>
            </a:r>
          </a:p>
        </p:txBody>
      </p:sp>
      <p:sp>
        <p:nvSpPr>
          <p:cNvPr id="174" name="等腰三角形 12"/>
          <p:cNvSpPr/>
          <p:nvPr/>
        </p:nvSpPr>
        <p:spPr>
          <a:xfrm>
            <a:off x="5223943" y="1298448"/>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5" name="等腰三角形 13"/>
          <p:cNvSpPr/>
          <p:nvPr/>
        </p:nvSpPr>
        <p:spPr>
          <a:xfrm flipH="1">
            <a:off x="8627626" y="1298448"/>
            <a:ext cx="142622" cy="101635"/>
          </a:xfrm>
          <a:prstGeom prst="triangle">
            <a:avLst>
              <a:gd name="adj" fmla="val 100000"/>
            </a:avLst>
          </a:prstGeom>
          <a:solidFill>
            <a:srgbClr val="FF7429">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6" name="矩形: 圆角 18"/>
          <p:cNvSpPr/>
          <p:nvPr/>
        </p:nvSpPr>
        <p:spPr>
          <a:xfrm>
            <a:off x="-52" y="4326073"/>
            <a:ext cx="4295034" cy="2240280"/>
          </a:xfrm>
          <a:prstGeom prst="roundRect">
            <a:avLst>
              <a:gd name="adj" fmla="val 6347"/>
            </a:avLst>
          </a:prstGeom>
          <a:gradFill flip="none" rotWithShape="1">
            <a:gsLst>
              <a:gs pos="0">
                <a:srgbClr val="376FFF">
                  <a:lumMod val="20000"/>
                  <a:lumOff val="80000"/>
                  <a:alpha val="20000"/>
                </a:srgbClr>
              </a:gs>
              <a:gs pos="100000">
                <a:srgbClr val="FFFFFF">
                  <a:alpha val="0"/>
                </a:srgbClr>
              </a:gs>
            </a:gsLst>
            <a:path path="circle">
              <a:fillToRect l="100000" t="100000"/>
            </a:path>
            <a:tileRect r="-100000" b="-100000"/>
          </a:gradFill>
          <a:ln w="15875">
            <a:solidFill>
              <a:srgbClr val="376FFF">
                <a:lumMod val="20000"/>
                <a:lumOff val="80000"/>
              </a:srgbClr>
            </a:solidFill>
          </a:ln>
          <a:effectLst>
            <a:outerShdw blurRad="279400" dist="228600" dir="2700000" algn="tl" rotWithShape="0">
              <a:srgbClr val="376FFF">
                <a:alpha val="8000"/>
              </a:srgbClr>
            </a:outerShdw>
          </a:effectLst>
        </p:spPr>
        <p:style>
          <a:lnRef idx="2">
            <a:srgbClr val="376FFF">
              <a:shade val="15000"/>
            </a:srgbClr>
          </a:lnRef>
          <a:fillRef idx="1">
            <a:srgbClr val="376FFF"/>
          </a:fillRef>
          <a:effectRef idx="0">
            <a:srgbClr val="376FFF"/>
          </a:effectRef>
          <a:fontRef idx="minor">
            <a:srgbClr val="FFFFFF"/>
          </a:fontRef>
        </p:style>
        <p:txBody>
          <a:bodyPr wrap="square" lIns="274320" tIns="457200" rIns="137160" bIns="54864" rtlCol="0" anchor="t">
            <a:noAutofit/>
          </a:bodyPr>
          <a:p>
            <a:pPr algn="l" marL="150000" indent="-150000">
              <a:spcBef>
                <a:spcPts val="0"/>
              </a:spcBef>
              <a:spcAft>
                <a:spcPts val="600"/>
              </a:spcAft>
              <a:buClr>
                <a:srgbClr val="1F4FC4"/>
              </a:buClr>
              <a:buFont typeface="Arial"/>
              <a:buChar char="•"/>
            </a:pPr>
            <a:r>
              <a:rPr lang="en-US" sz="1100" dirty="0" b="1">
                <a:solidFill>
                  <a:srgbClr val="262626"/>
                </a:solidFill>
                <a:latin typeface="Arial"/>
                <a:cs typeface="Arial"/>
              </a:rPr>
              <a:t>Modular implementation:</a:t>
            </a:r>
            <a:r>
              <a:rPr lang="en-US" sz="1100" dirty="0">
                <a:solidFill>
                  <a:srgbClr val="262626"/>
                </a:solidFill>
                <a:latin typeface="Arial"/>
                <a:cs typeface="Arial"/>
              </a:rPr>
              <a:t xml:space="preserve"> one module per ML task</a:t>
            </a:r>
          </a:p>
          <a:p>
            <a:pPr algn="l" marL="150000" indent="-150000">
              <a:spcBef>
                <a:spcPts val="0"/>
              </a:spcBef>
              <a:spcAft>
                <a:spcPts val="600"/>
              </a:spcAft>
              <a:buClr>
                <a:srgbClr val="1F4FC4"/>
              </a:buClr>
              <a:buFont typeface="Arial"/>
              <a:buChar char="•"/>
            </a:pPr>
            <a:r>
              <a:rPr lang="en-US" sz="1100" dirty="0" b="1">
                <a:solidFill>
                  <a:srgbClr val="262626"/>
                </a:solidFill>
                <a:latin typeface="Arial"/>
                <a:cs typeface="Arial"/>
              </a:rPr>
              <a:t>Separate pipelines:</a:t>
            </a:r>
            <a:r>
              <a:rPr lang="en-US" sz="1100" dirty="0">
                <a:solidFill>
                  <a:srgbClr val="262626"/>
                </a:solidFill>
                <a:latin typeface="Arial"/>
                <a:cs typeface="Arial"/>
              </a:rPr>
              <a:t xml:space="preserve"> preprocessing and model pipelines for each module</a:t>
            </a:r>
          </a:p>
          <a:p>
            <a:pPr algn="l" marL="150000" indent="-150000">
              <a:spcBef>
                <a:spcPts val="0"/>
              </a:spcBef>
              <a:spcAft>
                <a:spcPts val="600"/>
              </a:spcAft>
              <a:buClr>
                <a:srgbClr val="1F4FC4"/>
              </a:buClr>
              <a:buFont typeface="Arial"/>
              <a:buChar char="•"/>
            </a:pPr>
            <a:r>
              <a:rPr lang="en-US" sz="1100" dirty="0" b="1">
                <a:solidFill>
                  <a:srgbClr val="262626"/>
                </a:solidFill>
                <a:latin typeface="Arial"/>
                <a:cs typeface="Arial"/>
              </a:rPr>
              <a:t>Version-controlled code</a:t>
            </a:r>
            <a:r>
              <a:rPr lang="en-US" sz="1100" dirty="0">
                <a:solidFill>
                  <a:srgbClr val="262626"/>
                </a:solidFill>
                <a:latin typeface="Arial"/>
                <a:cs typeface="Arial"/>
              </a:rPr>
              <a:t xml:space="preserve"> using a repository</a:t>
            </a:r>
          </a:p>
          <a:p>
            <a:pPr algn="l" marL="150000" indent="-150000">
              <a:spcBef>
                <a:spcPts val="0"/>
              </a:spcBef>
              <a:spcAft>
                <a:spcPts val="0"/>
              </a:spcAft>
              <a:buClr>
                <a:srgbClr val="1F4FC4"/>
              </a:buClr>
              <a:buFont typeface="Arial"/>
              <a:buChar char="•"/>
            </a:pPr>
            <a:r>
              <a:rPr lang="en-US" sz="1100" dirty="0" b="1">
                <a:solidFill>
                  <a:srgbClr val="262626"/>
                </a:solidFill>
                <a:latin typeface="Arial"/>
                <a:cs typeface="Arial"/>
              </a:rPr>
              <a:t>Integration</a:t>
            </a:r>
            <a:r>
              <a:rPr lang="en-US" sz="1100" dirty="0">
                <a:solidFill>
                  <a:srgbClr val="262626"/>
                </a:solidFill>
                <a:latin typeface="Arial"/>
                <a:cs typeface="Arial"/>
              </a:rPr>
              <a:t xml:space="preserve"> of the crop, fertilizer and yield modules into one decision-support workflow</a:t>
            </a:r>
          </a:p>
        </p:txBody>
      </p:sp>
      <p:sp>
        <p:nvSpPr>
          <p:cNvPr id="177" name="任意多边形: 形状 19"/>
          <p:cNvSpPr/>
          <p:nvPr/>
        </p:nvSpPr>
        <p:spPr>
          <a:xfrm>
            <a:off x="523261" y="4224528"/>
            <a:ext cx="3261242" cy="414541"/>
          </a:xfrm>
          <a:custGeom>
            <a:avLst/>
            <a:gdLst>
              <a:gd name="connsiteX0" fmla="*/ 1 w 2523509"/>
              <a:gd name="connsiteY0" fmla="*/ 0 h 489935"/>
              <a:gd name="connsiteX1" fmla="*/ 2523508 w 2523509"/>
              <a:gd name="connsiteY1" fmla="*/ 0 h 489935"/>
              <a:gd name="connsiteX2" fmla="*/ 2523508 w 2523509"/>
              <a:gd name="connsiteY2" fmla="*/ 193313 h 489935"/>
              <a:gd name="connsiteX3" fmla="*/ 2523508 w 2523509"/>
              <a:gd name="connsiteY3" fmla="*/ 240238 h 489935"/>
              <a:gd name="connsiteX4" fmla="*/ 2523509 w 2523509"/>
              <a:gd name="connsiteY4" fmla="*/ 240238 h 489935"/>
              <a:gd name="connsiteX5" fmla="*/ 2523508 w 2523509"/>
              <a:gd name="connsiteY5" fmla="*/ 240243 h 489935"/>
              <a:gd name="connsiteX6" fmla="*/ 2523508 w 2523509"/>
              <a:gd name="connsiteY6" fmla="*/ 249696 h 489935"/>
              <a:gd name="connsiteX7" fmla="*/ 2523508 w 2523509"/>
              <a:gd name="connsiteY7" fmla="*/ 324846 h 489935"/>
              <a:gd name="connsiteX8" fmla="*/ 2358419 w 2523509"/>
              <a:gd name="connsiteY8" fmla="*/ 489935 h 489935"/>
              <a:gd name="connsiteX9" fmla="*/ 2273812 w 2523509"/>
              <a:gd name="connsiteY9" fmla="*/ 489935 h 489935"/>
              <a:gd name="connsiteX10" fmla="*/ 249699 w 2523509"/>
              <a:gd name="connsiteY10" fmla="*/ 489935 h 489935"/>
              <a:gd name="connsiteX11" fmla="*/ 165089 w 2523509"/>
              <a:gd name="connsiteY11" fmla="*/ 489935 h 489935"/>
              <a:gd name="connsiteX12" fmla="*/ 0 w 2523509"/>
              <a:gd name="connsiteY12" fmla="*/ 324846 h 489935"/>
              <a:gd name="connsiteX13" fmla="*/ 0 w 2523509"/>
              <a:gd name="connsiteY13" fmla="*/ 193313 h 489935"/>
              <a:gd name="connsiteX14" fmla="*/ 1 w 2523509"/>
              <a:gd name="connsiteY14" fmla="*/ 193308 h 489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23509" h="489935">
                <a:moveTo>
                  <a:pt x="1" y="0"/>
                </a:moveTo>
                <a:lnTo>
                  <a:pt x="2523508" y="0"/>
                </a:lnTo>
                <a:lnTo>
                  <a:pt x="2523508" y="193313"/>
                </a:lnTo>
                <a:lnTo>
                  <a:pt x="2523508" y="240238"/>
                </a:lnTo>
                <a:lnTo>
                  <a:pt x="2523509" y="240238"/>
                </a:lnTo>
                <a:lnTo>
                  <a:pt x="2523508" y="240243"/>
                </a:lnTo>
                <a:lnTo>
                  <a:pt x="2523508" y="249696"/>
                </a:lnTo>
                <a:lnTo>
                  <a:pt x="2523508" y="324846"/>
                </a:lnTo>
                <a:cubicBezTo>
                  <a:pt x="2523508" y="416022"/>
                  <a:pt x="2449595" y="489935"/>
                  <a:pt x="2358419" y="489935"/>
                </a:cubicBezTo>
                <a:lnTo>
                  <a:pt x="2273812" y="489935"/>
                </a:lnTo>
                <a:lnTo>
                  <a:pt x="249699" y="489935"/>
                </a:lnTo>
                <a:lnTo>
                  <a:pt x="165089" y="489935"/>
                </a:lnTo>
                <a:cubicBezTo>
                  <a:pt x="73913" y="489935"/>
                  <a:pt x="0" y="416022"/>
                  <a:pt x="0" y="324846"/>
                </a:cubicBezTo>
                <a:lnTo>
                  <a:pt x="0" y="193313"/>
                </a:lnTo>
                <a:lnTo>
                  <a:pt x="1" y="193308"/>
                </a:lnTo>
                <a:close/>
              </a:path>
            </a:pathLst>
          </a:custGeom>
          <a:gradFill flip="none" rotWithShape="1">
            <a:gsLst>
              <a:gs pos="0">
                <a:srgbClr val="376FFF">
                  <a:lumMod val="40000"/>
                  <a:lumOff val="60000"/>
                </a:srgbClr>
              </a:gs>
              <a:gs pos="69000">
                <a:srgbClr val="376FFF"/>
              </a:gs>
              <a:gs pos="100000">
                <a:srgbClr val="376FFF"/>
              </a:gs>
            </a:gsLst>
            <a:lin ang="2700000" scaled="1"/>
            <a:tileRect/>
          </a:gradFill>
          <a:ln>
            <a:noFill/>
          </a:ln>
          <a:effectLst>
            <a:outerShdw blurRad="101600" dist="76200" dir="2700000" algn="tl" rotWithShape="0">
              <a:srgbClr val="376FFF">
                <a:alpha val="25000"/>
              </a:srgbClr>
            </a:outerShdw>
          </a:effectLst>
        </p:spPr>
        <p:style>
          <a:lnRef idx="2">
            <a:srgbClr val="376FFF">
              <a:shade val="15000"/>
            </a:srgbClr>
          </a:lnRef>
          <a:fillRef idx="1">
            <a:srgbClr val="376FFF"/>
          </a:fillRef>
          <a:effectRef idx="0">
            <a:srgbClr val="376FFF"/>
          </a:effectRef>
          <a:fontRef idx="minor">
            <a:srgbClr val="FFFFFF"/>
          </a:fontRef>
        </p:style>
        <p:txBody>
          <a:bodyPr wrap="square" rtlCol="0" anchor="ctr">
            <a:normAutofit/>
          </a:bodyPr>
          <a:p>
            <a:r>
              <a:t>Development &amp; Integration</a:t>
            </a:r>
          </a:p>
        </p:txBody>
      </p:sp>
      <p:sp>
        <p:nvSpPr>
          <p:cNvPr id="178" name="等腰三角形 20"/>
          <p:cNvSpPr/>
          <p:nvPr/>
        </p:nvSpPr>
        <p:spPr>
          <a:xfrm>
            <a:off x="380344" y="4224528"/>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79" name="等腰三角形 21"/>
          <p:cNvSpPr/>
          <p:nvPr/>
        </p:nvSpPr>
        <p:spPr>
          <a:xfrm flipH="1">
            <a:off x="3784564" y="4224528"/>
            <a:ext cx="142622" cy="101635"/>
          </a:xfrm>
          <a:prstGeom prst="triangle">
            <a:avLst>
              <a:gd name="adj" fmla="val 100000"/>
            </a:avLst>
          </a:prstGeom>
          <a:solidFill>
            <a:srgbClr val="376FFF">
              <a:lumMod val="50000"/>
            </a:srgbClr>
          </a:solidFill>
          <a:ln>
            <a:noFill/>
          </a:ln>
        </p:spPr>
        <p:style>
          <a:lnRef idx="2">
            <a:srgbClr val="376FFF">
              <a:shade val="15000"/>
            </a:srgbClr>
          </a:lnRef>
          <a:fillRef idx="1">
            <a:srgbClr val="376FFF"/>
          </a:fillRef>
          <a:effectRef idx="0">
            <a:srgbClr val="376FFF"/>
          </a:effectRef>
          <a:fontRef idx="minor">
            <a:srgbClr val="FFFFFF"/>
          </a:fontRef>
        </p:style>
        <p:txBody>
          <a:bodyPr rtlCol="0" anchor="ctr"/>
          <a:p>
            <a:pPr algn="ctr"/>
            <a:endParaRPr lang="en-US" sz="1520">
              <a:solidFill>
                <a:srgbClr val="FFFFFF"/>
              </a:solidFill>
              <a:latin typeface="Arial" panose="020B0604020202020204" pitchFamily="34" charset="0"/>
              <a:sym typeface="Arial" panose="020B0604020202020204" pitchFamily="34" charset="0"/>
            </a:endParaRPr>
          </a:p>
        </p:txBody>
      </p:sp>
      <p:sp>
        <p:nvSpPr>
          <p:cNvPr id="180" name="Input layer"/>
          <p:cNvSpPr/>
          <p:nvPr/>
        </p:nvSpPr>
        <p:spPr>
          <a:xfrm>
            <a:off x="4986617" y="1820617"/>
            <a:ext cx="3886200" cy="283464"/>
          </a:xfrm>
          <a:prstGeom prst="roundRect">
            <a:avLst>
              <a:gd name="adj" fmla="val 20000"/>
            </a:avLst>
          </a:prstGeom>
          <a:solidFill>
            <a:srgbClr val="CDE7FA"/>
          </a:solidFill>
          <a:ln w="15875">
            <a:solidFill>
              <a:srgbClr val="2673BE"/>
            </a:solidFill>
          </a:ln>
          <a:effectLst/>
        </p:spPr>
        <p:txBody>
          <a:bodyPr wrap="square" lIns="45720" tIns="18288" rIns="45720" bIns="18288" rtlCol="0" anchor="ctr">
            <a:noAutofit/>
          </a:bodyPr>
          <a:lstStyle/>
          <a:p>
            <a:pPr algn="ctr" marL="0" indent="0">
              <a:spcBef>
                <a:spcPts val="0"/>
              </a:spcBef>
              <a:spcAft>
                <a:spcPts val="0"/>
              </a:spcAft>
              <a:buNone/>
            </a:pPr>
            <a:r>
              <a:rPr lang="en-US" sz="950" dirty="0" b="1">
                <a:solidFill>
                  <a:srgbClr val="192D46"/>
                </a:solidFill>
                <a:latin typeface="Arial"/>
                <a:cs typeface="Arial"/>
              </a:rPr>
              <a:t>User / Input Layer</a:t>
            </a:r>
          </a:p>
        </p:txBody>
      </p:sp>
      <p:sp>
        <p:nvSpPr>
          <p:cNvPr id="181" name="Flow arrow"/>
          <p:cNvSpPr/>
          <p:nvPr/>
        </p:nvSpPr>
        <p:spPr>
          <a:xfrm>
            <a:off x="6829133" y="2115054"/>
            <a:ext cx="201168" cy="87782"/>
          </a:xfrm>
          <a:prstGeom prst="downArrow">
            <a:avLst/>
          </a:prstGeom>
          <a:solidFill>
            <a:srgbClr val="7A8BA6"/>
          </a:solidFill>
          <a:ln>
            <a:noFill/>
          </a:ln>
          <a:effectLst/>
        </p:spPr>
        <p:txBody>
          <a:bodyPr rtlCol="0" anchor="ctr"/>
          <a:lstStyle/>
          <a:p>
            <a:pPr algn="ctr"/>
          </a:p>
        </p:txBody>
      </p:sp>
      <p:sp>
        <p:nvSpPr>
          <p:cNvPr id="182" name="Preprocessing layer"/>
          <p:cNvSpPr/>
          <p:nvPr/>
        </p:nvSpPr>
        <p:spPr>
          <a:xfrm>
            <a:off x="4986617" y="2213809"/>
            <a:ext cx="3886200" cy="283464"/>
          </a:xfrm>
          <a:prstGeom prst="roundRect">
            <a:avLst>
              <a:gd name="adj" fmla="val 20000"/>
            </a:avLst>
          </a:prstGeom>
          <a:solidFill>
            <a:srgbClr val="FFEFBC"/>
          </a:solidFill>
          <a:ln w="15875">
            <a:solidFill>
              <a:srgbClr val="E09D0F"/>
            </a:solidFill>
          </a:ln>
          <a:effectLst/>
        </p:spPr>
        <p:txBody>
          <a:bodyPr wrap="square" lIns="45720" tIns="18288" rIns="45720" bIns="18288" rtlCol="0" anchor="ctr">
            <a:noAutofit/>
          </a:bodyPr>
          <a:lstStyle/>
          <a:p>
            <a:pPr algn="ctr" marL="0" indent="0">
              <a:spcBef>
                <a:spcPts val="0"/>
              </a:spcBef>
              <a:spcAft>
                <a:spcPts val="0"/>
              </a:spcAft>
              <a:buNone/>
            </a:pPr>
            <a:r>
              <a:rPr lang="en-US" sz="950" dirty="0" b="1">
                <a:solidFill>
                  <a:srgbClr val="192D46"/>
                </a:solidFill>
                <a:latin typeface="Arial"/>
                <a:cs typeface="Arial"/>
              </a:rPr>
              <a:t>Input Validation &amp; Preprocessing</a:t>
            </a:r>
          </a:p>
        </p:txBody>
      </p:sp>
      <p:sp>
        <p:nvSpPr>
          <p:cNvPr id="183" name="Flow arrow"/>
          <p:cNvSpPr/>
          <p:nvPr/>
        </p:nvSpPr>
        <p:spPr>
          <a:xfrm>
            <a:off x="6829133" y="2508246"/>
            <a:ext cx="201168" cy="87782"/>
          </a:xfrm>
          <a:prstGeom prst="downArrow">
            <a:avLst/>
          </a:prstGeom>
          <a:solidFill>
            <a:srgbClr val="7A8BA6"/>
          </a:solidFill>
          <a:ln>
            <a:noFill/>
          </a:ln>
          <a:effectLst/>
        </p:spPr>
        <p:txBody>
          <a:bodyPr rtlCol="0" anchor="ctr"/>
          <a:lstStyle/>
          <a:p>
            <a:pPr algn="ctr"/>
          </a:p>
        </p:txBody>
      </p:sp>
      <p:sp>
        <p:nvSpPr>
          <p:cNvPr id="184" name="ML modules container"/>
          <p:cNvSpPr/>
          <p:nvPr/>
        </p:nvSpPr>
        <p:spPr>
          <a:xfrm>
            <a:off x="4986617" y="2607001"/>
            <a:ext cx="3886200" cy="713232"/>
          </a:xfrm>
          <a:prstGeom prst="roundRect">
            <a:avLst>
              <a:gd name="adj" fmla="val 10000"/>
            </a:avLst>
          </a:prstGeom>
          <a:solidFill>
            <a:srgbClr val="EAF8F3"/>
          </a:solidFill>
          <a:ln w="15875">
            <a:solidFill>
              <a:srgbClr val="14AA82"/>
            </a:solidFill>
          </a:ln>
          <a:effectLst/>
        </p:spPr>
        <p:txBody>
          <a:bodyPr rtlCol="0" anchor="ctr"/>
          <a:lstStyle/>
          <a:p>
            <a:pPr algn="ctr"/>
          </a:p>
        </p:txBody>
      </p:sp>
      <p:sp>
        <p:nvSpPr>
          <p:cNvPr id="185" name="ML modules label"/>
          <p:cNvSpPr txBox="1"/>
          <p:nvPr/>
        </p:nvSpPr>
        <p:spPr>
          <a:xfrm>
            <a:off x="5059769" y="2634433"/>
            <a:ext cx="3739896" cy="182880"/>
          </a:xfrm>
          <a:prstGeom prst="rect">
            <a:avLst/>
          </a:prstGeom>
          <a:noFill/>
        </p:spPr>
        <p:txBody>
          <a:bodyPr wrap="square" lIns="0" tIns="0" rIns="0" bIns="0" rtlCol="0" anchor="t">
            <a:noAutofit/>
          </a:bodyPr>
          <a:lstStyle/>
          <a:p>
            <a:pPr algn="l" marL="0" indent="0">
              <a:spcBef>
                <a:spcPts val="0"/>
              </a:spcBef>
              <a:spcAft>
                <a:spcPts val="0"/>
              </a:spcAft>
              <a:buNone/>
            </a:pPr>
            <a:r>
              <a:rPr lang="en-US" sz="850" dirty="0" b="1">
                <a:solidFill>
                  <a:srgbClr val="0E7C5C"/>
                </a:solidFill>
                <a:latin typeface="Arial"/>
                <a:cs typeface="Arial"/>
              </a:rPr>
              <a:t>ML Modules (model layer)</a:t>
            </a:r>
          </a:p>
        </p:txBody>
      </p:sp>
      <p:sp>
        <p:nvSpPr>
          <p:cNvPr id="186" name="Module 1"/>
          <p:cNvSpPr/>
          <p:nvPr/>
        </p:nvSpPr>
        <p:spPr>
          <a:xfrm>
            <a:off x="5059769" y="2826457"/>
            <a:ext cx="1197864" cy="438912"/>
          </a:xfrm>
          <a:prstGeom prst="roundRect">
            <a:avLst>
              <a:gd name="adj" fmla="val 15000"/>
            </a:avLst>
          </a:prstGeom>
          <a:solidFill>
            <a:srgbClr val="CFF4E7"/>
          </a:solidFill>
          <a:ln w="12700">
            <a:solidFill>
              <a:srgbClr val="14AA82"/>
            </a:solidFill>
          </a:ln>
          <a:effectLst/>
        </p:spPr>
        <p:txBody>
          <a:bodyPr wrap="square" lIns="45720" tIns="18288" rIns="45720" bIns="18288" rtlCol="0" anchor="ctr">
            <a:noAutofit/>
          </a:bodyPr>
          <a:lstStyle/>
          <a:p>
            <a:pPr algn="ctr" marL="0" indent="0">
              <a:spcBef>
                <a:spcPts val="0"/>
              </a:spcBef>
              <a:spcAft>
                <a:spcPts val="0"/>
              </a:spcAft>
              <a:buNone/>
            </a:pPr>
            <a:r>
              <a:rPr lang="en-US" sz="900" dirty="0" b="1">
                <a:solidFill>
                  <a:srgbClr val="192D46"/>
                </a:solidFill>
                <a:latin typeface="Arial"/>
                <a:cs typeface="Arial"/>
              </a:rPr>
              <a:t>Crop</a:t>
            </a:r>
          </a:p>
          <a:p>
            <a:pPr algn="ctr" marL="0" indent="0">
              <a:spcBef>
                <a:spcPts val="0"/>
              </a:spcBef>
              <a:spcAft>
                <a:spcPts val="0"/>
              </a:spcAft>
              <a:buNone/>
            </a:pPr>
            <a:r>
              <a:rPr lang="en-US" sz="900" dirty="0" b="1">
                <a:solidFill>
                  <a:srgbClr val="192D46"/>
                </a:solidFill>
                <a:latin typeface="Arial"/>
                <a:cs typeface="Arial"/>
              </a:rPr>
              <a:t>Classifier</a:t>
            </a:r>
          </a:p>
        </p:txBody>
      </p:sp>
      <p:sp>
        <p:nvSpPr>
          <p:cNvPr id="187" name="Module 2"/>
          <p:cNvSpPr/>
          <p:nvPr/>
        </p:nvSpPr>
        <p:spPr>
          <a:xfrm>
            <a:off x="6330785" y="2826457"/>
            <a:ext cx="1197864" cy="438912"/>
          </a:xfrm>
          <a:prstGeom prst="roundRect">
            <a:avLst>
              <a:gd name="adj" fmla="val 15000"/>
            </a:avLst>
          </a:prstGeom>
          <a:solidFill>
            <a:srgbClr val="CFF4E7"/>
          </a:solidFill>
          <a:ln w="12700">
            <a:solidFill>
              <a:srgbClr val="14AA82"/>
            </a:solidFill>
          </a:ln>
          <a:effectLst/>
        </p:spPr>
        <p:txBody>
          <a:bodyPr wrap="square" lIns="45720" tIns="18288" rIns="45720" bIns="18288" rtlCol="0" anchor="ctr">
            <a:noAutofit/>
          </a:bodyPr>
          <a:lstStyle/>
          <a:p>
            <a:pPr algn="ctr" marL="0" indent="0">
              <a:spcBef>
                <a:spcPts val="0"/>
              </a:spcBef>
              <a:spcAft>
                <a:spcPts val="0"/>
              </a:spcAft>
              <a:buNone/>
            </a:pPr>
            <a:r>
              <a:rPr lang="en-US" sz="900" dirty="0" b="1">
                <a:solidFill>
                  <a:srgbClr val="192D46"/>
                </a:solidFill>
                <a:latin typeface="Arial"/>
                <a:cs typeface="Arial"/>
              </a:rPr>
              <a:t>Fertilizer</a:t>
            </a:r>
          </a:p>
          <a:p>
            <a:pPr algn="ctr" marL="0" indent="0">
              <a:spcBef>
                <a:spcPts val="0"/>
              </a:spcBef>
              <a:spcAft>
                <a:spcPts val="0"/>
              </a:spcAft>
              <a:buNone/>
            </a:pPr>
            <a:r>
              <a:rPr lang="en-US" sz="900" dirty="0" b="1">
                <a:solidFill>
                  <a:srgbClr val="192D46"/>
                </a:solidFill>
                <a:latin typeface="Arial"/>
                <a:cs typeface="Arial"/>
              </a:rPr>
              <a:t>Classifier</a:t>
            </a:r>
          </a:p>
        </p:txBody>
      </p:sp>
      <p:sp>
        <p:nvSpPr>
          <p:cNvPr id="188" name="Module 3"/>
          <p:cNvSpPr/>
          <p:nvPr/>
        </p:nvSpPr>
        <p:spPr>
          <a:xfrm>
            <a:off x="7601801" y="2826457"/>
            <a:ext cx="1197864" cy="438912"/>
          </a:xfrm>
          <a:prstGeom prst="roundRect">
            <a:avLst>
              <a:gd name="adj" fmla="val 15000"/>
            </a:avLst>
          </a:prstGeom>
          <a:solidFill>
            <a:srgbClr val="CFF4E7"/>
          </a:solidFill>
          <a:ln w="12700">
            <a:solidFill>
              <a:srgbClr val="14AA82"/>
            </a:solidFill>
          </a:ln>
          <a:effectLst/>
        </p:spPr>
        <p:txBody>
          <a:bodyPr wrap="square" lIns="45720" tIns="18288" rIns="45720" bIns="18288" rtlCol="0" anchor="ctr">
            <a:noAutofit/>
          </a:bodyPr>
          <a:lstStyle/>
          <a:p>
            <a:pPr algn="ctr" marL="0" indent="0">
              <a:spcBef>
                <a:spcPts val="0"/>
              </a:spcBef>
              <a:spcAft>
                <a:spcPts val="0"/>
              </a:spcAft>
              <a:buNone/>
            </a:pPr>
            <a:r>
              <a:rPr lang="en-US" sz="900" dirty="0" b="1">
                <a:solidFill>
                  <a:srgbClr val="192D46"/>
                </a:solidFill>
                <a:latin typeface="Arial"/>
                <a:cs typeface="Arial"/>
              </a:rPr>
              <a:t>Yield</a:t>
            </a:r>
          </a:p>
          <a:p>
            <a:pPr algn="ctr" marL="0" indent="0">
              <a:spcBef>
                <a:spcPts val="0"/>
              </a:spcBef>
              <a:spcAft>
                <a:spcPts val="0"/>
              </a:spcAft>
              <a:buNone/>
            </a:pPr>
            <a:r>
              <a:rPr lang="en-US" sz="900" dirty="0" b="1">
                <a:solidFill>
                  <a:srgbClr val="192D46"/>
                </a:solidFill>
                <a:latin typeface="Arial"/>
                <a:cs typeface="Arial"/>
              </a:rPr>
              <a:t>Regressor</a:t>
            </a:r>
          </a:p>
        </p:txBody>
      </p:sp>
      <p:sp>
        <p:nvSpPr>
          <p:cNvPr id="189" name="Flow arrow"/>
          <p:cNvSpPr/>
          <p:nvPr/>
        </p:nvSpPr>
        <p:spPr>
          <a:xfrm>
            <a:off x="6829133" y="3331206"/>
            <a:ext cx="201168" cy="87782"/>
          </a:xfrm>
          <a:prstGeom prst="downArrow">
            <a:avLst/>
          </a:prstGeom>
          <a:solidFill>
            <a:srgbClr val="7A8BA6"/>
          </a:solidFill>
          <a:ln>
            <a:noFill/>
          </a:ln>
          <a:effectLst/>
        </p:spPr>
        <p:txBody>
          <a:bodyPr rtlCol="0" anchor="ctr"/>
          <a:lstStyle/>
          <a:p>
            <a:pPr algn="ctr"/>
          </a:p>
        </p:txBody>
      </p:sp>
      <p:sp>
        <p:nvSpPr>
          <p:cNvPr id="190" name="Output layer"/>
          <p:cNvSpPr/>
          <p:nvPr/>
        </p:nvSpPr>
        <p:spPr>
          <a:xfrm>
            <a:off x="4986617" y="3429961"/>
            <a:ext cx="3886200" cy="283464"/>
          </a:xfrm>
          <a:prstGeom prst="roundRect">
            <a:avLst>
              <a:gd name="adj" fmla="val 20000"/>
            </a:avLst>
          </a:prstGeom>
          <a:solidFill>
            <a:srgbClr val="E2D6FA"/>
          </a:solidFill>
          <a:ln w="15875">
            <a:solidFill>
              <a:srgbClr val="6546BE"/>
            </a:solidFill>
          </a:ln>
          <a:effectLst/>
        </p:spPr>
        <p:txBody>
          <a:bodyPr wrap="square" lIns="45720" tIns="18288" rIns="45720" bIns="18288" rtlCol="0" anchor="ctr">
            <a:noAutofit/>
          </a:bodyPr>
          <a:lstStyle/>
          <a:p>
            <a:pPr algn="ctr" marL="0" indent="0">
              <a:spcBef>
                <a:spcPts val="0"/>
              </a:spcBef>
              <a:spcAft>
                <a:spcPts val="0"/>
              </a:spcAft>
              <a:buNone/>
            </a:pPr>
            <a:r>
              <a:rPr lang="en-US" sz="950" dirty="0" b="1">
                <a:solidFill>
                  <a:srgbClr val="192D46"/>
                </a:solidFill>
                <a:latin typeface="Arial"/>
                <a:cs typeface="Arial"/>
              </a:rPr>
              <a:t>Prediction / Recommendation Output</a:t>
            </a:r>
          </a:p>
        </p:txBody>
      </p:sp>
      <p:sp>
        <p:nvSpPr>
          <p:cNvPr id="191" name="Architecture caption"/>
          <p:cNvSpPr txBox="1"/>
          <p:nvPr/>
        </p:nvSpPr>
        <p:spPr>
          <a:xfrm>
            <a:off x="4986617" y="3768289"/>
            <a:ext cx="3886200" cy="228600"/>
          </a:xfrm>
          <a:prstGeom prst="rect">
            <a:avLst/>
          </a:prstGeom>
          <a:noFill/>
        </p:spPr>
        <p:txBody>
          <a:bodyPr wrap="square" lIns="0" tIns="0" rIns="0" bIns="0" rtlCol="0" anchor="t">
            <a:noAutofit/>
          </a:bodyPr>
          <a:lstStyle/>
          <a:p>
            <a:pPr algn="ctr" marL="0" indent="0">
              <a:spcBef>
                <a:spcPts val="0"/>
              </a:spcBef>
              <a:spcAft>
                <a:spcPts val="0"/>
              </a:spcAft>
              <a:buNone/>
            </a:pPr>
            <a:r>
              <a:rPr lang="en-US" sz="850" dirty="0" i="1">
                <a:solidFill>
                  <a:srgbClr val="5B6573"/>
                </a:solidFill>
                <a:latin typeface="Arial"/>
                <a:cs typeface="Arial"/>
              </a:rPr>
              <a:t>Separate module per ML task · preprocessing, model and output layers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a:xfrm>
            <a:off x="458205" y="363925"/>
            <a:ext cx="8226900" cy="705600"/>
          </a:xfrm>
        </p:spPr>
        <p:txBody>
          <a:bodyPr/>
          <a:p>
            <a:r>
              <a:t>Software Engineering Workflow</a:t>
            </a:r>
          </a:p>
        </p:txBody>
      </p:sp>
      <p:sp>
        <p:nvSpPr>
          <p:cNvPr id="6" name="Text Box 5"/>
          <p:cNvSpPr txBox="1"/>
          <p:nvPr/>
        </p:nvSpPr>
        <p:spPr>
          <a:xfrm>
            <a:off x="412115" y="1430020"/>
            <a:ext cx="7782560" cy="922020"/>
          </a:xfrm>
          <a:prstGeom prst="rect">
            <a:avLst/>
          </a:prstGeom>
        </p:spPr>
        <p:txBody>
          <a:bodyPr wrap="square">
            <a:spAutoFit/>
          </a:bodyPr>
          <a:p>
            <a:endParaRPr>
              <a:solidFill>
                <a:schemeClr val="tx1"/>
              </a:solidFill>
              <a:latin typeface="Times New Roman" panose="02020603050405020304" charset="0"/>
              <a:cs typeface="Times New Roman" panose="02020603050405020304" charset="0"/>
            </a:endParaRPr>
          </a:p>
          <a:p>
            <a:endParaRPr>
              <a:solidFill>
                <a:schemeClr val="tx1"/>
              </a:solidFill>
              <a:latin typeface="Times New Roman" panose="02020603050405020304" charset="0"/>
              <a:cs typeface="Times New Roman" panose="02020603050405020304" charset="0"/>
            </a:endParaRPr>
          </a:p>
          <a:p>
            <a:endParaRPr>
              <a:solidFill>
                <a:schemeClr val="tx1"/>
              </a:solidFill>
              <a:latin typeface="Times New Roman" panose="02020603050405020304" charset="0"/>
              <a:cs typeface="Times New Roman" panose="02020603050405020304" charset="0"/>
            </a:endParaRPr>
          </a:p>
        </p:txBody>
      </p:sp>
      <p:sp>
        <p:nvSpPr>
          <p:cNvPr id="12" name="Rounded Rectangle 11"/>
          <p:cNvSpPr/>
          <p:nvPr/>
        </p:nvSpPr>
        <p:spPr>
          <a:xfrm>
            <a:off x="255905" y="1457325"/>
            <a:ext cx="4265295" cy="922020"/>
          </a:xfrm>
          <a:prstGeom prst="roundRect">
            <a:avLst/>
          </a:prstGeom>
          <a:solidFill>
            <a:srgbClr val="CDE7FA"/>
          </a:solidFill>
          <a:ln w="19050">
            <a:solidFill>
              <a:srgbClr val="2673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090" y="1621790"/>
            <a:ext cx="483870" cy="597535"/>
          </a:xfrm>
          <a:prstGeom prst="ellipse">
            <a:avLst/>
          </a:prstGeom>
          <a:solidFill>
            <a:srgbClr val="26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1</a:t>
            </a:r>
          </a:p>
        </p:txBody>
      </p:sp>
      <p:sp>
        <p:nvSpPr>
          <p:cNvPr id="15" name="TextBox 4"/>
          <p:cNvSpPr txBox="1"/>
          <p:nvPr/>
        </p:nvSpPr>
        <p:spPr>
          <a:xfrm>
            <a:off x="1307465" y="150304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Requirements Analysis</a:t>
            </a:r>
          </a:p>
          <a:p>
            <a:pPr algn="ctr" marL="0" indent="0">
              <a:lnSpc>
                <a:spcPct val="100000"/>
              </a:lnSpc>
              <a:spcBef>
                <a:spcPts val="0"/>
              </a:spcBef>
              <a:spcAft>
                <a:spcPts val="0"/>
              </a:spcAft>
              <a:buNone/>
            </a:pPr>
            <a:r>
              <a:rPr lang="en-US" sz="950" dirty="0">
                <a:solidFill>
                  <a:srgbClr val="34445A"/>
                </a:solidFill>
                <a:latin typeface="Arial"/>
                <a:cs typeface="Arial"/>
              </a:rPr>
              <a:t>Gather the client’s needs (farmers/advisors) and turn them into system requirements</a:t>
            </a:r>
          </a:p>
        </p:txBody>
      </p:sp>
      <p:sp>
        <p:nvSpPr>
          <p:cNvPr id="16" name="Down Arrow 15"/>
          <p:cNvSpPr/>
          <p:nvPr/>
        </p:nvSpPr>
        <p:spPr>
          <a:xfrm>
            <a:off x="2697480" y="2463165"/>
            <a:ext cx="391160" cy="219710"/>
          </a:xfrm>
          <a:prstGeom prst="downArrow">
            <a:avLst/>
          </a:prstGeom>
          <a:solidFill>
            <a:srgbClr val="2673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55905" y="2737485"/>
            <a:ext cx="4265295" cy="922020"/>
          </a:xfrm>
          <a:prstGeom prst="roundRect">
            <a:avLst/>
          </a:prstGeom>
          <a:solidFill>
            <a:srgbClr val="CFF4E7"/>
          </a:solidFill>
          <a:ln w="19050">
            <a:solidFill>
              <a:srgbClr val="14A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66090" y="2901950"/>
            <a:ext cx="483870" cy="597535"/>
          </a:xfrm>
          <a:prstGeom prst="ellipse">
            <a:avLst/>
          </a:prstGeom>
          <a:solidFill>
            <a:srgbClr val="14A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2</a:t>
            </a:r>
          </a:p>
        </p:txBody>
      </p:sp>
      <p:sp>
        <p:nvSpPr>
          <p:cNvPr id="19" name="TextBox 8"/>
          <p:cNvSpPr txBox="1"/>
          <p:nvPr/>
        </p:nvSpPr>
        <p:spPr>
          <a:xfrm>
            <a:off x="1307465" y="278320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System Design</a:t>
            </a:r>
          </a:p>
          <a:p>
            <a:pPr algn="ctr" marL="0" indent="0">
              <a:lnSpc>
                <a:spcPct val="100000"/>
              </a:lnSpc>
              <a:spcBef>
                <a:spcPts val="0"/>
              </a:spcBef>
              <a:spcAft>
                <a:spcPts val="0"/>
              </a:spcAft>
              <a:buNone/>
            </a:pPr>
            <a:r>
              <a:rPr lang="en-US" sz="950" dirty="0">
                <a:solidFill>
                  <a:srgbClr val="34445A"/>
                </a:solidFill>
                <a:latin typeface="Arial"/>
                <a:cs typeface="Arial"/>
              </a:rPr>
              <a:t>Design a modular architecture for the three ML components</a:t>
            </a:r>
          </a:p>
        </p:txBody>
      </p:sp>
      <p:sp>
        <p:nvSpPr>
          <p:cNvPr id="20" name="Down Arrow 19"/>
          <p:cNvSpPr/>
          <p:nvPr/>
        </p:nvSpPr>
        <p:spPr>
          <a:xfrm>
            <a:off x="2697480" y="3743325"/>
            <a:ext cx="391160" cy="219710"/>
          </a:xfrm>
          <a:prstGeom prst="downArrow">
            <a:avLst/>
          </a:prstGeom>
          <a:solidFill>
            <a:srgbClr val="14A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55905" y="4017645"/>
            <a:ext cx="4265295" cy="922020"/>
          </a:xfrm>
          <a:prstGeom prst="roundRect">
            <a:avLst/>
          </a:prstGeom>
          <a:solidFill>
            <a:srgbClr val="FFEFBC"/>
          </a:solidFill>
          <a:ln w="19050">
            <a:solidFill>
              <a:srgbClr val="E09D0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66090" y="4182110"/>
            <a:ext cx="483870" cy="597535"/>
          </a:xfrm>
          <a:prstGeom prst="ellipse">
            <a:avLst/>
          </a:prstGeom>
          <a:solidFill>
            <a:srgbClr val="E09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3</a:t>
            </a:r>
          </a:p>
        </p:txBody>
      </p:sp>
      <p:sp>
        <p:nvSpPr>
          <p:cNvPr id="26" name="TextBox 12"/>
          <p:cNvSpPr txBox="1"/>
          <p:nvPr/>
        </p:nvSpPr>
        <p:spPr>
          <a:xfrm>
            <a:off x="1307465" y="406336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Implementation</a:t>
            </a:r>
          </a:p>
          <a:p>
            <a:pPr algn="ctr" marL="0" indent="0">
              <a:lnSpc>
                <a:spcPct val="100000"/>
              </a:lnSpc>
              <a:spcBef>
                <a:spcPts val="0"/>
              </a:spcBef>
              <a:spcAft>
                <a:spcPts val="0"/>
              </a:spcAft>
              <a:buNone/>
            </a:pPr>
            <a:r>
              <a:rPr lang="en-US" sz="950" dirty="0">
                <a:solidFill>
                  <a:srgbClr val="34445A"/>
                </a:solidFill>
                <a:latin typeface="Arial"/>
                <a:cs typeface="Arial"/>
              </a:rPr>
              <a:t>Implement the preprocessing and ML modules</a:t>
            </a:r>
          </a:p>
        </p:txBody>
      </p:sp>
      <p:sp>
        <p:nvSpPr>
          <p:cNvPr id="27" name="Down Arrow 26"/>
          <p:cNvSpPr/>
          <p:nvPr/>
        </p:nvSpPr>
        <p:spPr>
          <a:xfrm>
            <a:off x="2697480" y="5023485"/>
            <a:ext cx="391160" cy="219710"/>
          </a:xfrm>
          <a:prstGeom prst="downArrow">
            <a:avLst/>
          </a:prstGeom>
          <a:solidFill>
            <a:srgbClr val="E09D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55905" y="5297805"/>
            <a:ext cx="4265295" cy="922020"/>
          </a:xfrm>
          <a:prstGeom prst="roundRect">
            <a:avLst/>
          </a:prstGeom>
          <a:solidFill>
            <a:srgbClr val="E2D6FA"/>
          </a:solidFill>
          <a:ln w="19050">
            <a:solidFill>
              <a:srgbClr val="6546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090" y="5462270"/>
            <a:ext cx="483870" cy="597535"/>
          </a:xfrm>
          <a:prstGeom prst="ellipse">
            <a:avLst/>
          </a:prstGeom>
          <a:solidFill>
            <a:srgbClr val="65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4</a:t>
            </a:r>
          </a:p>
        </p:txBody>
      </p:sp>
      <p:sp>
        <p:nvSpPr>
          <p:cNvPr id="30" name="TextBox 16"/>
          <p:cNvSpPr txBox="1"/>
          <p:nvPr/>
        </p:nvSpPr>
        <p:spPr>
          <a:xfrm>
            <a:off x="1307465" y="534352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Integration</a:t>
            </a:r>
          </a:p>
          <a:p>
            <a:pPr algn="ctr" marL="0" indent="0">
              <a:lnSpc>
                <a:spcPct val="100000"/>
              </a:lnSpc>
              <a:spcBef>
                <a:spcPts val="0"/>
              </a:spcBef>
              <a:spcAft>
                <a:spcPts val="0"/>
              </a:spcAft>
              <a:buNone/>
            </a:pPr>
            <a:r>
              <a:rPr lang="en-US" sz="950" dirty="0">
                <a:solidFill>
                  <a:srgbClr val="34445A"/>
                </a:solidFill>
                <a:latin typeface="Arial"/>
                <a:cs typeface="Arial"/>
              </a:rPr>
              <a:t>Integrate the crop, fertilizer and yield modules</a:t>
            </a:r>
          </a:p>
        </p:txBody>
      </p:sp>
      <p:sp>
        <p:nvSpPr>
          <p:cNvPr id="31" name="Down Arrow 30"/>
          <p:cNvSpPr/>
          <p:nvPr/>
        </p:nvSpPr>
        <p:spPr>
          <a:xfrm>
            <a:off x="2697480" y="6303645"/>
            <a:ext cx="391160" cy="219710"/>
          </a:xfrm>
          <a:prstGeom prst="downArrow">
            <a:avLst/>
          </a:prstGeom>
          <a:solidFill>
            <a:srgbClr val="6546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4656455" y="1477645"/>
            <a:ext cx="4265295" cy="922020"/>
          </a:xfrm>
          <a:prstGeom prst="roundRect">
            <a:avLst/>
          </a:prstGeom>
          <a:solidFill>
            <a:srgbClr val="FFD7D8"/>
          </a:solidFill>
          <a:ln w="19050">
            <a:solidFill>
              <a:srgbClr val="E043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866640" y="1642110"/>
            <a:ext cx="483870" cy="597535"/>
          </a:xfrm>
          <a:prstGeom prst="ellipse">
            <a:avLst/>
          </a:prstGeom>
          <a:solidFill>
            <a:srgbClr val="E04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5</a:t>
            </a:r>
          </a:p>
        </p:txBody>
      </p:sp>
      <p:sp>
        <p:nvSpPr>
          <p:cNvPr id="45" name="TextBox 20"/>
          <p:cNvSpPr txBox="1"/>
          <p:nvPr/>
        </p:nvSpPr>
        <p:spPr>
          <a:xfrm>
            <a:off x="5708015" y="152336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Testing</a:t>
            </a:r>
          </a:p>
          <a:p>
            <a:pPr algn="ctr" marL="0" indent="0">
              <a:lnSpc>
                <a:spcPct val="100000"/>
              </a:lnSpc>
              <a:spcBef>
                <a:spcPts val="0"/>
              </a:spcBef>
              <a:spcAft>
                <a:spcPts val="0"/>
              </a:spcAft>
              <a:buNone/>
            </a:pPr>
            <a:r>
              <a:rPr lang="en-US" sz="950" dirty="0">
                <a:solidFill>
                  <a:srgbClr val="34445A"/>
                </a:solidFill>
                <a:latin typeface="Arial"/>
                <a:cs typeface="Arial"/>
              </a:rPr>
              <a:t>Check each requirement is met and results are clear enough for the client to act on</a:t>
            </a:r>
          </a:p>
        </p:txBody>
      </p:sp>
      <p:sp>
        <p:nvSpPr>
          <p:cNvPr id="46" name="Down Arrow 45"/>
          <p:cNvSpPr/>
          <p:nvPr/>
        </p:nvSpPr>
        <p:spPr>
          <a:xfrm>
            <a:off x="7098030" y="2483485"/>
            <a:ext cx="391160" cy="219710"/>
          </a:xfrm>
          <a:prstGeom prst="downArrow">
            <a:avLst/>
          </a:prstGeom>
          <a:solidFill>
            <a:srgbClr val="E043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656455" y="2757805"/>
            <a:ext cx="4265295" cy="922020"/>
          </a:xfrm>
          <a:prstGeom prst="roundRect">
            <a:avLst/>
          </a:prstGeom>
          <a:solidFill>
            <a:srgbClr val="CBEFEF"/>
          </a:solidFill>
          <a:ln w="19050">
            <a:solidFill>
              <a:srgbClr val="1296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866640" y="2922270"/>
            <a:ext cx="483870" cy="597535"/>
          </a:xfrm>
          <a:prstGeom prst="ellipse">
            <a:avLst/>
          </a:prstGeom>
          <a:solidFill>
            <a:srgbClr val="12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6</a:t>
            </a:r>
          </a:p>
        </p:txBody>
      </p:sp>
      <p:sp>
        <p:nvSpPr>
          <p:cNvPr id="49" name="TextBox 24"/>
          <p:cNvSpPr txBox="1"/>
          <p:nvPr/>
        </p:nvSpPr>
        <p:spPr>
          <a:xfrm>
            <a:off x="5708015" y="280352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Deployment</a:t>
            </a:r>
          </a:p>
          <a:p>
            <a:pPr algn="ctr" marL="0" indent="0">
              <a:lnSpc>
                <a:spcPct val="100000"/>
              </a:lnSpc>
              <a:spcBef>
                <a:spcPts val="0"/>
              </a:spcBef>
              <a:spcAft>
                <a:spcPts val="0"/>
              </a:spcAft>
              <a:buNone/>
            </a:pPr>
            <a:r>
              <a:rPr lang="en-US" sz="950" dirty="0">
                <a:solidFill>
                  <a:srgbClr val="34445A"/>
                </a:solidFill>
                <a:latin typeface="Arial"/>
                <a:cs typeface="Arial"/>
              </a:rPr>
              <a:t>Prepare the system for user-facing deployment</a:t>
            </a:r>
          </a:p>
        </p:txBody>
      </p:sp>
      <p:sp>
        <p:nvSpPr>
          <p:cNvPr id="50" name="Down Arrow 49"/>
          <p:cNvSpPr/>
          <p:nvPr/>
        </p:nvSpPr>
        <p:spPr>
          <a:xfrm>
            <a:off x="7098030" y="3763645"/>
            <a:ext cx="391160" cy="219710"/>
          </a:xfrm>
          <a:prstGeom prst="downArrow">
            <a:avLst/>
          </a:prstGeom>
          <a:solidFill>
            <a:srgbClr val="1296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656455" y="4037965"/>
            <a:ext cx="4265295" cy="922020"/>
          </a:xfrm>
          <a:prstGeom prst="roundRect">
            <a:avLst/>
          </a:prstGeom>
          <a:solidFill>
            <a:srgbClr val="D6E2FA"/>
          </a:solidFill>
          <a:ln w="19050">
            <a:solidFill>
              <a:srgbClr val="305B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866640" y="4202430"/>
            <a:ext cx="483870" cy="597535"/>
          </a:xfrm>
          <a:prstGeom prst="ellipse">
            <a:avLst/>
          </a:prstGeom>
          <a:solidFill>
            <a:srgbClr val="305B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100" b="1">
                <a:solidFill>
                  <a:srgbClr val="FFFFFF"/>
                </a:solidFill>
                <a:latin typeface="Aptos"/>
              </a:defRPr>
            </a:pPr>
            <a:r>
              <a:t>7</a:t>
            </a:r>
          </a:p>
        </p:txBody>
      </p:sp>
      <p:sp>
        <p:nvSpPr>
          <p:cNvPr id="53" name="TextBox 28"/>
          <p:cNvSpPr txBox="1"/>
          <p:nvPr/>
        </p:nvSpPr>
        <p:spPr>
          <a:xfrm>
            <a:off x="5708015" y="4083685"/>
            <a:ext cx="3163570" cy="830580"/>
          </a:xfrm>
          <a:prstGeom prst="rect">
            <a:avLst/>
          </a:prstGeom>
          <a:noFill/>
        </p:spPr>
        <p:txBody>
          <a:bodyPr wrap="square" lIns="45720" tIns="18288" rIns="45720" bIns="18288" rtlCol="0" anchor="ctr">
            <a:noAutofit/>
          </a:bodyPr>
          <a:lstStyle/>
          <a:p>
            <a:pPr algn="ctr" marL="0" indent="0">
              <a:lnSpc>
                <a:spcPct val="95000"/>
              </a:lnSpc>
              <a:spcBef>
                <a:spcPts val="0"/>
              </a:spcBef>
              <a:spcAft>
                <a:spcPts val="200"/>
              </a:spcAft>
              <a:buNone/>
            </a:pPr>
            <a:r>
              <a:rPr lang="en-US" sz="1300" dirty="0" b="1">
                <a:solidFill>
                  <a:srgbClr val="192D46"/>
                </a:solidFill>
                <a:latin typeface="Arial"/>
                <a:cs typeface="Arial"/>
              </a:rPr>
              <a:t>Maintenance &amp; Evolution</a:t>
            </a:r>
          </a:p>
          <a:p>
            <a:pPr algn="ctr" marL="0" indent="0">
              <a:lnSpc>
                <a:spcPct val="100000"/>
              </a:lnSpc>
              <a:spcBef>
                <a:spcPts val="0"/>
              </a:spcBef>
              <a:spcAft>
                <a:spcPts val="0"/>
              </a:spcAft>
              <a:buNone/>
            </a:pPr>
            <a:r>
              <a:rPr lang="en-US" sz="950" dirty="0">
                <a:solidFill>
                  <a:srgbClr val="34445A"/>
                </a:solidFill>
                <a:latin typeface="Arial"/>
                <a:cs typeface="Arial"/>
              </a:rPr>
              <a:t>Update models and data; improve recommendations as more data becomes available</a:t>
            </a: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COMPATIBLE" val="0"/>
  <p:tag name="KSO_WM_UNIT_DIAGRAM_ISREFERUNIT" val="0"/>
  <p:tag name="KSO_WM_TEMPLATE_INDEX" val="20238209"/>
  <p:tag name="KSO_WM_TAG_VERSION" val="3.0"/>
  <p:tag name="KSO_WM_DIAGRAM_VERSION" val="3"/>
  <p:tag name="KSO_WM_DIAGRAM_COLOR_TEXT_CAN_REMOVE" val="n"/>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NDEX" val="1_4_1"/>
  <p:tag name="KSO_WM_UNIT_ID" val="diagram20238209_3*l_h_f*1_4_1"/>
  <p:tag name="KSO_WM_TEMPLATE_CATEGORY" val="diagram"/>
  <p:tag name="KSO_WM_UNIT_LAYERLEVEL" val="1_1_1"/>
  <p:tag name="KSO_WM_BEAUTIFY_FLAG" val="#wm#"/>
  <p:tag name="KSO_WM_DIAGRAM_GROUP_CODE" val="l1-1"/>
  <p:tag name="KSO_WM_DIAGRAM_COLOR_TRICK" val="2"/>
  <p:tag name="KSO_WM_DIAGRAM_MAX_ITEMCNT" val="6"/>
  <p:tag name="KSO_WM_DIAGRAM_VIRTUALLY_FRAME" val="{&quot;height&quot;:409.6072979927702,&quot;left&quot;:-0.004094488188976378,&quot;top&quot;:75.82135100361484,&quot;width&quot;:720.0427559055119}"/>
  <p:tag name="KSO_WM_DIAGRAM_COLOR_MATCH_VALUE" val="{&quot;shape&quot;:{&quot;fill&quot;:{&quot;gradient&quot;:[{&quot;brightness&quot;:0.800000011920929,&quot;colorType&quot;:1,&quot;foreColorIndex&quot;:8,&quot;pos&quot;:0,&quot;transparency&quot;:0.800000011920929},{&quot;brightness&quot;:0,&quot;colorType&quot;:1,&quot;foreColorIndex&quot;:14,&quot;pos&quot;:1,&quot;transparency&quot;:1}],&quot;type&quot;:3},&quot;glow&quot;:{&quot;colorType&quot;:0},&quot;line&quot;:{&quot;solidLine&quot;:{&quot;brightness&quot;:0.800000011920929,&quot;colorType&quot;:1,&quot;foreColorIndex&quot;:8,&quot;transparency&quot;:0},&quot;type&quot;:1},&quot;shadow&quot;:{&quot;brightness&quot;:0,&quot;colorType&quot;:1,&quot;foreColorIndex&quot;:8,&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PRESET_TEXT" val="Presentations are communication tools that can be used as demonstrations."/>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gradient&quot;:[{&quot;brightness&quot;:0.4000000059604645,&quot;colorType&quot;:1,&quot;foreColorIndex&quot;:8,&quot;pos&quot;:0,&quot;transparency&quot;:0},{&quot;brightness&quot;:0,&quot;colorType&quot;:1,&quot;foreColorIndex&quot;:8,&quot;pos&quot;:0.6644999980926514,&quot;transparency&quot;:0},{&quot;brightness&quot;:0,&quot;colorType&quot;:1,&quot;foreColorIndex&quot;:8,&quot;pos&quot;:1,&quot;transparency&quot;:0}],&quot;type&quot;:3},&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4_1"/>
  <p:tag name="KSO_WM_UNIT_ID" val="diagram20238209_3*l_h_a*1_4_1"/>
  <p:tag name="KSO_WM_TEMPLATE_CATEGORY" val="diagram"/>
  <p:tag name="KSO_WM_TEMPLATE_INDEX" val="20238209"/>
  <p:tag name="KSO_WM_UNIT_LAYERLEVEL" val="1_1_1"/>
  <p:tag name="KSO_WM_TAG_VERSION" val="3.0"/>
  <p:tag name="KSO_WM_UNIT_TEXT_FILL_FORE_SCHEMECOLOR_INDEX_BRIGHTNESS" val="0.15"/>
  <p:tag name="KSO_WM_UNIT_PRESET_TEXT" val="Titl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20238209_3*l_h_i*1_4_1"/>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5"/>
  <p:tag name="KSO_WM_DIAGRAM_USE_COLOR_VALUE" val="{&quot;color_scheme&quot;:1,&quot;color_type&quot;:1,&quot;theme_color_indexes&quot;:[]}"/>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diagram20238209_3*l_h_i*1_4_2"/>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5"/>
  <p:tag name="KSO_WM_DIAGRAM_USE_COLOR_VALUE" val="{&quot;color_scheme&quot;:1,&quot;color_type&quot;:1,&quot;theme_color_indexes&quot;:[]}"/>
</p:tagLst>
</file>

<file path=ppt/tags/tag71.xml><?xml version="1.0" encoding="utf-8"?>
<p:tagLst xmlns:p="http://schemas.openxmlformats.org/presentationml/2006/main">
  <p:tag name="KSO_WM_UNIT_COMPATIBLE" val="0"/>
  <p:tag name="KSO_WM_UNIT_DIAGRAM_ISREFERUNIT" val="0"/>
  <p:tag name="KSO_WM_TEMPLATE_INDEX" val="20238209"/>
  <p:tag name="KSO_WM_TAG_VERSION" val="3.0"/>
  <p:tag name="KSO_WM_DIAGRAM_VERSION" val="3"/>
  <p:tag name="KSO_WM_DIAGRAM_COLOR_TEXT_CAN_REMOVE" val="n"/>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NDEX" val="1_1_1"/>
  <p:tag name="KSO_WM_UNIT_ID" val="diagram20238209_3*l_h_f*1_1_1"/>
  <p:tag name="KSO_WM_TEMPLATE_CATEGORY" val="diagram"/>
  <p:tag name="KSO_WM_UNIT_LAYERLEVEL" val="1_1_1"/>
  <p:tag name="KSO_WM_BEAUTIFY_FLAG" val="#wm#"/>
  <p:tag name="KSO_WM_DIAGRAM_GROUP_CODE" val="l1-1"/>
  <p:tag name="KSO_WM_DIAGRAM_COLOR_TRICK" val="2"/>
  <p:tag name="KSO_WM_DIAGRAM_MAX_ITEMCNT" val="6"/>
  <p:tag name="KSO_WM_DIAGRAM_VIRTUALLY_FRAME" val="{&quot;height&quot;:409.6072979927702,&quot;left&quot;:-0.004094488188976378,&quot;top&quot;:75.82135100361484,&quot;width&quot;:720.0427559055119}"/>
  <p:tag name="KSO_WM_DIAGRAM_COLOR_MATCH_VALUE" val="{&quot;shape&quot;:{&quot;fill&quot;:{&quot;gradient&quot;:[{&quot;brightness&quot;:0.800000011920929,&quot;colorType&quot;:1,&quot;foreColorIndex&quot;:5,&quot;pos&quot;:0,&quot;transparency&quot;:0.800000011920929},{&quot;brightness&quot;:0,&quot;colorType&quot;:1,&quot;foreColorIndex&quot;:14,&quot;pos&quot;:1,&quot;transparency&quot;:1}],&quot;type&quot;:3},&quot;glow&quot;:{&quot;colorType&quot;:0},&quot;line&quot;:{&quot;solidLine&quot;:{&quot;brightness&quot;:0.800000011920929,&quot;colorType&quot;:1,&quot;foreColorIndex&quot;:5,&quot;transparency&quot;:0},&quot;type&quot;:1},&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PRESET_TEXT" val="Presentations are communication tools that can be used as demonstrations."/>
  <p:tag name="KSO_WM_UNIT_FILL_TYPE" val="3"/>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gradient&quot;:[{&quot;brightness&quot;:0.6000000238418579,&quot;colorType&quot;:1,&quot;foreColorIndex&quot;:5,&quot;pos&quot;:0,&quot;transparency&quot;:0},{&quot;brightness&quot;:0,&quot;colorType&quot;:1,&quot;foreColorIndex&quot;:5,&quot;pos&quot;:0.6899999976158142,&quot;transparency&quot;:0},{&quot;brightness&quot;:0,&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1_1"/>
  <p:tag name="KSO_WM_UNIT_ID" val="diagram20238209_3*l_h_a*1_1_1"/>
  <p:tag name="KSO_WM_TEMPLATE_CATEGORY" val="diagram"/>
  <p:tag name="KSO_WM_TEMPLATE_INDEX" val="20238209"/>
  <p:tag name="KSO_WM_UNIT_LAYERLEVEL" val="1_1_1"/>
  <p:tag name="KSO_WM_TAG_VERSION" val="3.0"/>
  <p:tag name="KSO_WM_UNIT_TEXT_FILL_FORE_SCHEMECOLOR_INDEX_BRIGHTNESS" val="0.15"/>
  <p:tag name="KSO_WM_UNIT_PRESET_TEXT" val="Titl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209_3*l_h_i*1_1_1"/>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8209_3*l_h_i*1_1_2"/>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75.xml><?xml version="1.0" encoding="utf-8"?>
<p:tagLst xmlns:p="http://schemas.openxmlformats.org/presentationml/2006/main">
  <p:tag name="KSO_WM_UNIT_COMPATIBLE" val="0"/>
  <p:tag name="KSO_WM_UNIT_DIAGRAM_ISREFERUNIT" val="0"/>
  <p:tag name="KSO_WM_TEMPLATE_INDEX" val="20238209"/>
  <p:tag name="KSO_WM_TAG_VERSION" val="3.0"/>
  <p:tag name="KSO_WM_DIAGRAM_VERSION" val="3"/>
  <p:tag name="KSO_WM_DIAGRAM_COLOR_TEXT_CAN_REMOVE" val="n"/>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NDEX" val="1_2_1"/>
  <p:tag name="KSO_WM_UNIT_ID" val="diagram20238209_3*l_h_f*1_2_1"/>
  <p:tag name="KSO_WM_TEMPLATE_CATEGORY" val="diagram"/>
  <p:tag name="KSO_WM_UNIT_LAYERLEVEL" val="1_1_1"/>
  <p:tag name="KSO_WM_BEAUTIFY_FLAG" val="#wm#"/>
  <p:tag name="KSO_WM_DIAGRAM_GROUP_CODE" val="l1-1"/>
  <p:tag name="KSO_WM_DIAGRAM_COLOR_TRICK" val="2"/>
  <p:tag name="KSO_WM_DIAGRAM_MAX_ITEMCNT" val="6"/>
  <p:tag name="KSO_WM_DIAGRAM_VIRTUALLY_FRAME" val="{&quot;height&quot;:409.6072979927702,&quot;left&quot;:-0.004094488188976378,&quot;top&quot;:75.82135100361484,&quot;width&quot;:720.0427559055119}"/>
  <p:tag name="KSO_WM_DIAGRAM_COLOR_MATCH_VALUE" val="{&quot;shape&quot;:{&quot;fill&quot;:{&quot;gradient&quot;:[{&quot;brightness&quot;:0.800000011920929,&quot;colorType&quot;:1,&quot;foreColorIndex&quot;:8,&quot;pos&quot;:0,&quot;transparency&quot;:0.800000011920929},{&quot;brightness&quot;:0,&quot;colorType&quot;:1,&quot;foreColorIndex&quot;:14,&quot;pos&quot;:1,&quot;transparency&quot;:1}],&quot;type&quot;:3},&quot;glow&quot;:{&quot;colorType&quot;:0},&quot;line&quot;:{&quot;solidLine&quot;:{&quot;brightness&quot;:0.800000011920929,&quot;colorType&quot;:1,&quot;foreColorIndex&quot;:8,&quot;transparency&quot;:0},&quot;type&quot;:1},&quot;shadow&quot;:{&quot;brightness&quot;:0,&quot;colorType&quot;:1,&quot;foreColorIndex&quot;:8,&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PRESET_TEXT" val="Presentations are communication tools that can be used as demonstrations."/>
  <p:tag name="KSO_WM_UNIT_FILL_TYPE" val="3"/>
  <p:tag name="KSO_WM_UNIT_LINE_FORE_SCHEMECOLOR_INDEX" val="8"/>
  <p:tag name="KSO_WM_UNIT_TEXT_FILL_FORE_SCHEMECOLOR_INDEX" val="1"/>
  <p:tag name="KSO_WM_UNIT_TEXT_FILL_TYPE" val="1"/>
  <p:tag name="KSO_WM_DIAGRAM_USE_COLOR_VALUE" val="{&quot;color_scheme&quot;:1,&quot;color_type&quot;:1,&quot;theme_color_indexes&quot;:[]}"/>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gradient&quot;:[{&quot;brightness&quot;:0.4000000059604645,&quot;colorType&quot;:1,&quot;foreColorIndex&quot;:8,&quot;pos&quot;:0,&quot;transparency&quot;:0},{&quot;brightness&quot;:0,&quot;colorType&quot;:1,&quot;foreColorIndex&quot;:8,&quot;pos&quot;:0.6644999980926514,&quot;transparency&quot;:0},{&quot;brightness&quot;:0,&quot;colorType&quot;:1,&quot;foreColorIndex&quot;:8,&quot;pos&quot;:1,&quot;transparency&quot;:0}],&quot;type&quot;:3},&quot;glow&quot;:{&quot;colorType&quot;:0},&quot;line&quot;:{&quot;type&quot;:0},&quot;shadow&quot;:{&quot;brightness&quot;:0,&quot;colorType&quot;:1,&quot;foreColorIndex&quot;:8,&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2_1"/>
  <p:tag name="KSO_WM_UNIT_ID" val="diagram20238209_3*l_h_a*1_2_1"/>
  <p:tag name="KSO_WM_TEMPLATE_CATEGORY" val="diagram"/>
  <p:tag name="KSO_WM_TEMPLATE_INDEX" val="20238209"/>
  <p:tag name="KSO_WM_UNIT_LAYERLEVEL" val="1_1_1"/>
  <p:tag name="KSO_WM_TAG_VERSION" val="3.0"/>
  <p:tag name="KSO_WM_UNIT_TEXT_FILL_FORE_SCHEMECOLOR_INDEX_BRIGHTNESS" val="0.15"/>
  <p:tag name="KSO_WM_UNIT_PRESET_TEXT" val="Titl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238209_3*l_h_i*1_2_1"/>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5"/>
  <p:tag name="KSO_WM_DIAGRAM_USE_COLOR_VALUE" val="{&quot;color_scheme&quot;:1,&quot;color_type&quot;:1,&quot;theme_color_indexes&quot;:[]}"/>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238209_3*l_h_i*1_2_2"/>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5"/>
  <p:tag name="KSO_WM_DIAGRAM_USE_COLOR_VALUE" val="{&quot;color_scheme&quot;:1,&quot;color_type&quot;:1,&quot;theme_color_indexes&quot;:[]}"/>
</p:tagLst>
</file>

<file path=ppt/tags/tag79.xml><?xml version="1.0" encoding="utf-8"?>
<p:tagLst xmlns:p="http://schemas.openxmlformats.org/presentationml/2006/main">
  <p:tag name="KSO_WM_UNIT_COMPATIBLE" val="0"/>
  <p:tag name="KSO_WM_UNIT_DIAGRAM_ISREFERUNIT" val="0"/>
  <p:tag name="KSO_WM_TEMPLATE_INDEX" val="20238209"/>
  <p:tag name="KSO_WM_TAG_VERSION" val="3.0"/>
  <p:tag name="KSO_WM_DIAGRAM_VERSION" val="3"/>
  <p:tag name="KSO_WM_DIAGRAM_COLOR_TEXT_CAN_REMOVE" val="n"/>
  <p:tag name="KSO_WM_DIAGRAM_MIN_ITEMCNT" val="2"/>
  <p:tag name="KSO_WM_UNIT_SUBTYPE" val="a"/>
  <p:tag name="KSO_WM_UNIT_NOCLEAR" val="0"/>
  <p:tag name="KSO_WM_UNIT_VALUE" val="60"/>
  <p:tag name="KSO_WM_UNIT_HIGHLIGHT" val="0"/>
  <p:tag name="KSO_WM_UNIT_DIAGRAM_ISNUMVISUAL" val="0"/>
  <p:tag name="KSO_WM_UNIT_TYPE" val="l_h_f"/>
  <p:tag name="KSO_WM_UNIT_INDEX" val="1_3_1"/>
  <p:tag name="KSO_WM_UNIT_ID" val="diagram20238209_3*l_h_f*1_3_1"/>
  <p:tag name="KSO_WM_TEMPLATE_CATEGORY" val="diagram"/>
  <p:tag name="KSO_WM_UNIT_LAYERLEVEL" val="1_1_1"/>
  <p:tag name="KSO_WM_BEAUTIFY_FLAG" val="#wm#"/>
  <p:tag name="KSO_WM_DIAGRAM_GROUP_CODE" val="l1-1"/>
  <p:tag name="KSO_WM_DIAGRAM_COLOR_TRICK" val="2"/>
  <p:tag name="KSO_WM_DIAGRAM_MAX_ITEMCNT" val="6"/>
  <p:tag name="KSO_WM_DIAGRAM_VIRTUALLY_FRAME" val="{&quot;height&quot;:409.6072979927702,&quot;left&quot;:-0.004094488188976378,&quot;top&quot;:75.82135100361484,&quot;width&quot;:720.0427559055119}"/>
  <p:tag name="KSO_WM_DIAGRAM_COLOR_MATCH_VALUE" val="{&quot;shape&quot;:{&quot;fill&quot;:{&quot;gradient&quot;:[{&quot;brightness&quot;:0.800000011920929,&quot;colorType&quot;:1,&quot;foreColorIndex&quot;:5,&quot;pos&quot;:0,&quot;transparency&quot;:0.800000011920929},{&quot;brightness&quot;:0,&quot;colorType&quot;:1,&quot;foreColorIndex&quot;:14,&quot;pos&quot;:1,&quot;transparency&quot;:1}],&quot;type&quot;:3},&quot;glow&quot;:{&quot;colorType&quot;:0},&quot;line&quot;:{&quot;solidLine&quot;:{&quot;brightness&quot;:0.800000011920929,&quot;colorType&quot;:1,&quot;foreColorIndex&quot;:5,&quot;transparency&quot;:0},&quot;type&quot;:1},&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PRESET_TEXT" val="Presentations are communication tools that can be used as demonstrations."/>
  <p:tag name="KSO_WM_UNIT_FILL_TYPE" val="3"/>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gradient&quot;:[{&quot;brightness&quot;:0.6000000238418579,&quot;colorType&quot;:1,&quot;foreColorIndex&quot;:5,&quot;pos&quot;:0,&quot;transparency&quot;:0},{&quot;brightness&quot;:0,&quot;colorType&quot;:1,&quot;foreColorIndex&quot;:5,&quot;pos&quot;:0.6899999976158142,&quot;transparency&quot;:0},{&quot;brightness&quot;:0,&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3_1"/>
  <p:tag name="KSO_WM_UNIT_ID" val="diagram20238209_3*l_h_a*1_3_1"/>
  <p:tag name="KSO_WM_TEMPLATE_CATEGORY" val="diagram"/>
  <p:tag name="KSO_WM_TEMPLATE_INDEX" val="20238209"/>
  <p:tag name="KSO_WM_UNIT_LAYERLEVEL" val="1_1_1"/>
  <p:tag name="KSO_WM_TAG_VERSION" val="3.0"/>
  <p:tag name="KSO_WM_UNIT_TEXT_FILL_FORE_SCHEMECOLOR_INDEX_BRIGHTNESS" val="0.15"/>
  <p:tag name="KSO_WM_UNIT_PRESET_TEXT" val="Title"/>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20238209_3*l_h_i*1_3_1"/>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8209_3*l_h_i*1_3_2"/>
  <p:tag name="KSO_WM_TEMPLATE_CATEGORY" val="diagram"/>
  <p:tag name="KSO_WM_TEMPLATE_INDEX" val="20238209"/>
  <p:tag name="KSO_WM_UNIT_LAYERLEVEL" val="1_1_1"/>
  <p:tag name="KSO_WM_TAG_VERSION" val="3.0"/>
  <p:tag name="KSO_WM_BEAUTIFY_FLAG" val="#wm#"/>
  <p:tag name="KSO_WM_DIAGRAM_VERSION" val="3"/>
  <p:tag name="KSO_WM_DIAGRAM_COLOR_TRICK" val="2"/>
  <p:tag name="KSO_WM_DIAGRAM_COLOR_TEXT_CAN_REMOVE" val="n"/>
  <p:tag name="KSO_WM_DIAGRAM_MAX_ITEMCNT" val="6"/>
  <p:tag name="KSO_WM_DIAGRAM_MIN_ITEMCNT" val="2"/>
  <p:tag name="KSO_WM_DIAGRAM_VIRTUALLY_FRAME" val="{&quot;height&quot;:409.6072979927702,&quot;left&quot;:-0.004094488188976378,&quot;top&quot;:75.82135100361484,&quot;width&quot;:720.0427559055119}"/>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5"/>
  <p:tag name="KSO_WM_DIAGRAM_USE_COLOR_VALUE" val="{&quot;color_scheme&quot;:1,&quot;color_type&quot;:1,&quot;theme_color_indexes&quot;:[]}"/>
</p:tagLst>
</file>

<file path=ppt/tags/tag83.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5871,3318299]}"/>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resource_record_key" val="{&quot;65&quot;:[20205081],&quot;70&quot;:[3315871,3318299]}"/>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1349</Words>
  <Application>WPS Presentation</Application>
  <PresentationFormat>Widescreen</PresentationFormat>
  <Paragraphs>117</Paragraphs>
  <Slides>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vt:i4>
      </vt:variant>
    </vt:vector>
  </HeadingPairs>
  <TitlesOfParts>
    <vt:vector size="18" baseType="lpstr">
      <vt:lpstr>Arial</vt:lpstr>
      <vt:lpstr>SimSun</vt:lpstr>
      <vt:lpstr>Wingdings</vt:lpstr>
      <vt:lpstr>Wingdings</vt:lpstr>
      <vt:lpstr>Times New Roman</vt:lpstr>
      <vt:lpstr>Microsoft YaHei</vt:lpstr>
      <vt:lpstr>Aptos</vt:lpstr>
      <vt:lpstr>Segoe UI</vt:lpstr>
      <vt:lpstr>Aptos Display</vt:lpstr>
      <vt:lpstr>Arial Unicode MS</vt:lpstr>
      <vt:lpstr>Calibri</vt:lpstr>
      <vt:lpstr>Segoe UI Variable Display</vt:lpstr>
      <vt:lpstr>WPS</vt:lpstr>
      <vt:lpstr>Project Title</vt:lpstr>
      <vt:lpstr>AI/ML Implementation</vt:lpstr>
      <vt:lpstr>AI/ML Workflow</vt:lpstr>
      <vt:lpstr>Software Engineering Implementation</vt:lpstr>
      <vt:lpstr>Software Engineering Workflow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
  <cp:lastModifiedBy>Shweta.Malwe</cp:lastModifiedBy>
  <cp:revision>4</cp:revision>
  <dcterms:created xsi:type="dcterms:W3CDTF">2026-09-18T04:27:00Z</dcterms:created>
  <dcterms:modified xsi:type="dcterms:W3CDTF">2026-09-18T09:18:04Z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89EEF9892D884DEDB8E5622AD7E279DE_12</vt:lpwstr>
  </property>
</Properties>
</file>